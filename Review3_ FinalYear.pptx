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57" r:id="rId4"/>
    <p:sldId id="274" r:id="rId5"/>
    <p:sldId id="277" r:id="rId6"/>
    <p:sldId id="279" r:id="rId7"/>
    <p:sldId id="278" r:id="rId8"/>
    <p:sldId id="268" r:id="rId9"/>
    <p:sldId id="273" r:id="rId10"/>
    <p:sldId id="282" r:id="rId11"/>
    <p:sldId id="280" r:id="rId12"/>
    <p:sldId id="283" r:id="rId13"/>
    <p:sldId id="285"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773" y="8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70A8389-38C0-6B9D-B589-95521B9F4AD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CE3C6FA-F3D4-797F-A6E3-7F41BEDA9A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8AA922A-09AF-AEA7-9A0C-4FE4779F32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06350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B88AED6-9EB1-EBC8-6EC3-86ED91733B1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CEE8931-7B5B-5424-405F-B44EBE6AF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C8F7A8C-B309-A5CA-D167-E8DCF300F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3882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EDD14EC-C082-4416-96B3-77EEFC49D2F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A0F7737-00F4-1BA9-E1B9-55EBDC17D8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FA02380-153D-0182-CB23-9994AD716C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3038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F78AE2D-627B-C352-5BC0-188634A1B39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942A51B-8FB6-C35A-6C4A-52FB469526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A802C76-3A80-02BB-362B-392920738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74818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F964331-3FE8-D2B7-3328-5B4C15E5922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F8993E9-4559-24BE-054C-40DF0E1D0E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D2233D4-B035-07B1-FFF5-DA5A49F53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76559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a:t>
            </a:r>
            <a:br>
              <a:rPr lang="en-GB" sz="2400" dirty="0">
                <a:solidFill>
                  <a:schemeClr val="tx1"/>
                </a:solidFill>
                <a:latin typeface="Cambria" panose="02040503050406030204" pitchFamily="18" charset="0"/>
                <a:ea typeface="Cambria" panose="02040503050406030204" pitchFamily="18" charset="0"/>
              </a:rPr>
            </a:br>
            <a:r>
              <a:rPr lang="en-GB" sz="2400" dirty="0">
                <a:solidFill>
                  <a:schemeClr val="tx1"/>
                </a:solidFill>
                <a:latin typeface="Cambria" panose="02040503050406030204" pitchFamily="18" charset="0"/>
                <a:ea typeface="Cambria" panose="02040503050406030204" pitchFamily="18" charset="0"/>
              </a:rPr>
              <a:t>Enhancing farmer productivity through innovative technology solutions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lumMod val="85000"/>
                    <a:lumOff val="15000"/>
                  </a:schemeClr>
                </a:solidFill>
                <a:latin typeface="Cambria" panose="02040503050406030204" pitchFamily="18" charset="0"/>
                <a:ea typeface="Cambria" panose="02040503050406030204" pitchFamily="18" charset="0"/>
              </a:rPr>
              <a:t>CSE_124</a:t>
            </a:r>
            <a:endParaRPr sz="1800" dirty="0">
              <a:solidFill>
                <a:schemeClr val="tx1">
                  <a:lumMod val="85000"/>
                  <a:lumOff val="15000"/>
                </a:schemeClr>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GB" sz="1800"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Radhika Sreedharan</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762609451"/>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20221CSE0301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CHARAN 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20221CSE0304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NAGENDRA BABU 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20221CSE0752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VISHWAS Y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B.Tech(CSE)</a:t>
            </a:r>
            <a:endParaRPr lang="en-US"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t>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solidFill>
                  <a:schemeClr val="tx1"/>
                </a:solidFill>
                <a:latin typeface="Cambria" panose="02040503050406030204" pitchFamily="18" charset="0"/>
                <a:ea typeface="Cambria" panose="02040503050406030204" pitchFamily="18" charset="0"/>
                <a:cs typeface="Verdana"/>
                <a:sym typeface="Verdana"/>
              </a:rPr>
              <a:t>Muthuraju V</a:t>
            </a:r>
            <a:r>
              <a:rPr lang="en-IN" sz="1800" b="1" dirty="0">
                <a:solidFill>
                  <a:schemeClr val="tx1"/>
                </a:solidFill>
              </a:rPr>
              <a:t> </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IN" dirty="0"/>
              <a:t>Ministry of Agriculture &amp; Farmers Welfare(MoA&amp;FW) </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   Software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US" sz="2200" b="1" dirty="0">
                <a:latin typeface="Cambria" panose="02040503050406030204" pitchFamily="18" charset="0"/>
                <a:ea typeface="Cambria" panose="02040503050406030204" pitchFamily="18" charset="0"/>
              </a:rPr>
              <a:t>: </a:t>
            </a:r>
            <a:r>
              <a:rPr lang="en-US" sz="2300" dirty="0">
                <a:latin typeface="Cambria" panose="02040503050406030204" pitchFamily="18" charset="0"/>
                <a:ea typeface="Cambria" panose="02040503050406030204" pitchFamily="18" charset="0"/>
              </a:rPr>
              <a:t>The </a:t>
            </a:r>
            <a:r>
              <a:rPr lang="en-US" sz="2000" dirty="0"/>
              <a:t>system aims to improve farmer productivity by providing technology-based decision support for agriculture. It uses data such as soil health, weather conditions, and crop information to generate smart recommendations. The solution helps farmers increase yield, reduce costs, and adopt sustainable farming practices.</a:t>
            </a:r>
          </a:p>
          <a:p>
            <a:pPr marL="342900" lvl="0" indent="-190500" algn="just">
              <a:lnSpc>
                <a:spcPct val="200000"/>
              </a:lnSpc>
              <a:spcBef>
                <a:spcPts val="0"/>
              </a:spcBef>
              <a:buNone/>
            </a:pPr>
            <a:r>
              <a:rPr lang="en-US" sz="2300" dirty="0" err="1">
                <a:latin typeface="Cambria" panose="02040503050406030204" pitchFamily="18" charset="0"/>
                <a:ea typeface="Cambria" panose="02040503050406030204" pitchFamily="18" charset="0"/>
              </a:rPr>
              <a:t>i</a:t>
            </a:r>
            <a:r>
              <a:rPr lang="en-US" sz="2300" dirty="0">
                <a:latin typeface="Cambria" panose="02040503050406030204" pitchFamily="18" charset="0"/>
                <a:ea typeface="Cambria" panose="02040503050406030204" pitchFamily="18" charset="0"/>
              </a:rPr>
              <a:t>. </a:t>
            </a:r>
            <a:r>
              <a:rPr lang="en-US" sz="2000" dirty="0"/>
              <a:t>Suggests suitable crops based on soil, season, and climate</a:t>
            </a:r>
            <a:r>
              <a:rPr lang="en-US" sz="2300" dirty="0">
                <a:latin typeface="Cambria" panose="02040503050406030204" pitchFamily="18" charset="0"/>
                <a:ea typeface="Cambria" panose="02040503050406030204" pitchFamily="18" charset="0"/>
              </a:rPr>
              <a:t>.</a:t>
            </a: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 </a:t>
            </a:r>
            <a:r>
              <a:rPr lang="en-US" sz="2000" dirty="0"/>
              <a:t>Provides irrigation and fertilizer guidance to save water and improve yield.</a:t>
            </a:r>
            <a:endParaRPr lang="en-US" sz="23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iii.</a:t>
            </a:r>
            <a:r>
              <a:rPr lang="en-US" sz="2000" dirty="0"/>
              <a:t> Gives pest, disease, and weather alerts for timely action.</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iv. </a:t>
            </a:r>
            <a:r>
              <a:rPr lang="en-US" sz="2000" dirty="0"/>
              <a:t>Estimates crop yield and overall farm productivity.</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v. </a:t>
            </a:r>
            <a:r>
              <a:rPr lang="en-US" sz="2000" dirty="0"/>
              <a:t>Shows market prices and modern farming methods to increase farmer income.</a:t>
            </a:r>
          </a:p>
          <a:p>
            <a:pPr marL="342900" lvl="0" indent="-190500" algn="just">
              <a:lnSpc>
                <a:spcPct val="200000"/>
              </a:lnSpc>
              <a:spcBef>
                <a:spcPts val="0"/>
              </a:spcBef>
              <a:buNone/>
            </a:pPr>
            <a:endParaRPr lang="en-US"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239141"/>
            <a:ext cx="10668000" cy="4151432"/>
          </a:xfrm>
          <a:prstGeom prst="rect">
            <a:avLst/>
          </a:prstGeom>
          <a:noFill/>
          <a:ln>
            <a:noFill/>
          </a:ln>
        </p:spPr>
        <p:txBody>
          <a:bodyPr spcFirstLastPara="1" wrap="square" lIns="91425" tIns="45700" rIns="91425" bIns="45700" anchor="t" anchorCtr="0">
            <a:normAutofit fontScale="62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Outputs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sz="2600" dirty="0">
                <a:latin typeface="Times New Roman" panose="02020603050405020304" pitchFamily="18" charset="0"/>
                <a:cs typeface="Times New Roman" panose="02020603050405020304" pitchFamily="18" charset="0"/>
              </a:rPr>
              <a:t>Farmers face challenges in making timely and accurate decisions related to crop selection, irrigation, and pest management due to lack of reliable information.</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Traditional farming practices rely on experience and guesswork, leading to low productivity, higher input costs, and crop losses</a:t>
            </a:r>
            <a:r>
              <a:rPr lang="en-US" sz="2600" dirty="0">
                <a:latin typeface="Times New Roman" panose="02020603050405020304" pitchFamily="18" charset="0"/>
                <a:ea typeface="Cambria" panose="02040503050406030204" pitchFamily="18" charset="0"/>
                <a:cs typeface="Times New Roman" panose="02020603050405020304" pitchFamily="18" charset="0"/>
              </a:rPr>
              <a:t>.</a:t>
            </a:r>
          </a:p>
          <a:p>
            <a:pPr marL="495300" lvl="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ea typeface="Cambria" panose="02040503050406030204" pitchFamily="18" charset="0"/>
                <a:cs typeface="Times New Roman" panose="02020603050405020304" pitchFamily="18" charset="0"/>
              </a:rPr>
              <a:t>A data-driven, AI-enabled system can provide </a:t>
            </a:r>
            <a:r>
              <a:rPr lang="en-US" sz="2600" dirty="0">
                <a:latin typeface="Times New Roman" panose="02020603050405020304" pitchFamily="18" charset="0"/>
                <a:cs typeface="Times New Roman" panose="02020603050405020304" pitchFamily="18" charset="0"/>
              </a:rPr>
              <a:t>smart recommendations, improve farm efficiency, and increase farmer income sustainably.</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A85E927-59E8-865E-AD0F-659FC467A64A}"/>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A7FB6D4-188F-35D0-BDF1-2E5BDC0351E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64809FDD-ACE7-8047-2169-85EA1B351A6F}"/>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help farmers choose the right crop for their land and season.</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guide farmers on proper irrigation and fertilizer usage.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weather, pest, and disease alerts on time.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increase crop yield, reduce costs, and improve farmer income.</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36384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63986FF-5597-A87E-2289-AE760C61C072}"/>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EEBD4B6-527C-F282-43BD-2D104E143BE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0FADDAB2-11DA-B01B-A3AC-E8D721C60F3A}"/>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Background and Related work for title Selection :</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Farming depends heavily on weather, soil, and water availability.</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farmers still use traditional methods based on experience.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 technologies like mobile apps and sensors are being used in agriculture.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a need for simple and integrated technology solutions for farmers.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77825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038860A-660F-9E74-8D80-31C90357175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A575A4C-17F3-37A0-D8FB-2F9A92636EA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8F4C7B3-D77B-AD5A-6168-FEB363A950B9}"/>
              </a:ext>
            </a:extLst>
          </p:cNvPr>
          <p:cNvSpPr txBox="1">
            <a:spLocks noGrp="1"/>
          </p:cNvSpPr>
          <p:nvPr>
            <p:ph type="body" idx="1"/>
          </p:nvPr>
        </p:nvSpPr>
        <p:spPr>
          <a:xfrm>
            <a:off x="655782" y="1163782"/>
            <a:ext cx="10668000" cy="4675909"/>
          </a:xfrm>
          <a:prstGeom prst="rect">
            <a:avLst/>
          </a:prstGeom>
          <a:noFill/>
          <a:ln>
            <a:noFill/>
          </a:ln>
        </p:spPr>
        <p:txBody>
          <a:bodyPr spcFirstLastPara="1" wrap="square" lIns="91425" tIns="45700" rIns="91425" bIns="45700" anchor="t" anchorCtr="0">
            <a:normAutofit fontScale="40000" lnSpcReduction="20000"/>
          </a:bodyPr>
          <a:lstStyle/>
          <a:p>
            <a:pPr marL="495300" indent="-342900" algn="just">
              <a:lnSpc>
                <a:spcPct val="200000"/>
              </a:lnSpc>
              <a:spcBef>
                <a:spcPts val="0"/>
              </a:spcBef>
              <a:buFont typeface="Arial" panose="020B0604020202020204" pitchFamily="34" charset="0"/>
              <a:buChar char="•"/>
            </a:pPr>
            <a:r>
              <a:rPr lang="en-US" sz="4200" b="1" dirty="0">
                <a:latin typeface="Cambria" panose="02040503050406030204" pitchFamily="18" charset="0"/>
                <a:ea typeface="Cambria" panose="02040503050406030204" pitchFamily="18" charset="0"/>
              </a:rPr>
              <a:t>Analysis of Problem Statement:</a:t>
            </a:r>
          </a:p>
          <a:p>
            <a:pPr marL="152400" lvl="0" indent="0" algn="just">
              <a:lnSpc>
                <a:spcPct val="200000"/>
              </a:lnSpc>
              <a:spcBef>
                <a:spcPts val="0"/>
              </a:spcBef>
              <a:buNone/>
            </a:pPr>
            <a:r>
              <a:rPr lang="en-US" sz="3800" dirty="0">
                <a:latin typeface="Cambria" panose="02040503050406030204" pitchFamily="18" charset="0"/>
                <a:ea typeface="Cambria" panose="02040503050406030204" pitchFamily="18" charset="0"/>
              </a:rPr>
              <a:t> </a:t>
            </a:r>
            <a:r>
              <a:rPr lang="en-US" sz="3800" u="sng" dirty="0">
                <a:latin typeface="Cambria" panose="02040503050406030204" pitchFamily="18" charset="0"/>
                <a:ea typeface="Cambria" panose="02040503050406030204" pitchFamily="18" charset="0"/>
              </a:rPr>
              <a:t>Challenges: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Farmers have limited access to modern technology.</a:t>
            </a:r>
          </a:p>
          <a:p>
            <a:pPr marL="49530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Weather changes and pests affect crops.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Lack of proper information for farming decisions.</a:t>
            </a:r>
          </a:p>
          <a:p>
            <a:pPr marL="152400" lvl="0" indent="0" algn="just">
              <a:lnSpc>
                <a:spcPct val="200000"/>
              </a:lnSpc>
              <a:spcBef>
                <a:spcPts val="0"/>
              </a:spcBef>
              <a:buNone/>
            </a:pPr>
            <a:r>
              <a:rPr lang="en-US" sz="3800" u="sng" dirty="0">
                <a:latin typeface="Cambria" panose="02040503050406030204" pitchFamily="18" charset="0"/>
                <a:ea typeface="Cambria" panose="02040503050406030204" pitchFamily="18" charset="0"/>
              </a:rPr>
              <a:t>Impact:</a:t>
            </a:r>
          </a:p>
          <a:p>
            <a:pPr marL="495300" lvl="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Better crop yield and farm productivity</a:t>
            </a:r>
            <a:r>
              <a:rPr lang="en-US" sz="4800" dirty="0">
                <a:latin typeface="Times New Roman" panose="02020603050405020304" pitchFamily="18" charset="0"/>
                <a:ea typeface="Cambria" panose="02040503050406030204" pitchFamily="18" charset="0"/>
                <a:cs typeface="Times New Roman" panose="02020603050405020304" pitchFamily="18" charset="0"/>
              </a:rPr>
              <a:t>.</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Reduced cost of farming inputs.</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Increased farmer income and sustainable farming</a:t>
            </a:r>
            <a:r>
              <a:rPr lang="en-US" sz="4800" dirty="0"/>
              <a:t>.</a:t>
            </a:r>
            <a:endParaRPr lang="en-US" sz="4800" dirty="0">
              <a:latin typeface="Times New Roman" panose="02020603050405020304" pitchFamily="18" charset="0"/>
              <a:ea typeface="Cambria" panose="02040503050406030204" pitchFamily="18" charset="0"/>
              <a:cs typeface="Times New Roman" panose="02020603050405020304" pitchFamily="18" charset="0"/>
            </a:endParaRPr>
          </a:p>
          <a:p>
            <a:endParaRPr lang="en-US" sz="3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7878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URL:</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rPr>
              <a:t>https://github.com/Charan-gcr/Enhancing-farmer-productivity-through-innovative-technology-solutions</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Times New Roman" panose="02020603050405020304" pitchFamily="18" charset="0"/>
                <a:cs typeface="Times New Roman" panose="02020603050405020304" pitchFamily="18" charset="0"/>
              </a:rPr>
              <a:t>Frontend: Web or mobile interface for farmers (HTML, CSS, JavaScript / Android app).</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Backend: Python /Java/Node.js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Database &amp; Analytics: MySQL/Firebase.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Software Requirements: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Operating System: Windows/Linux/Android</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Web Browser: Google Chrome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Development Tools: VS Code/Android Studio</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2A63088-F72F-B316-155E-FD7474C50C9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11A570D-A402-3185-D729-D2D9E757AC5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2D60F7F-75BF-864F-1272-9C110BA062F9}"/>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Innovation or Novel Contributions</a:t>
            </a:r>
            <a:r>
              <a:rPr lang="en-US" dirty="0">
                <a:latin typeface="Cambria" panose="02040503050406030204" pitchFamily="18" charset="0"/>
                <a:ea typeface="Cambria" panose="02040503050406030204" pitchFamily="18" charset="0"/>
              </a:rPr>
              <a:t>:</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Combines soil, weather, and crop data in a single platform.</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simple and easy-to-understand recommendations for farmers.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Offers real-time alerts for weather, pests, and diseases.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Supports farmers in increasing yield and income using technology.</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2594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42D24CA-E287-2929-7D48-EAD3646DE839}"/>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2FD7F2B-3198-0179-E468-EE5313DCE6D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36590D89-9C9C-E05F-DBE9-F04FCA63C815}"/>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 </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A0C6410-C5E6-B421-A464-F99DC673D27E}"/>
              </a:ext>
            </a:extLst>
          </p:cNvPr>
          <p:cNvPicPr>
            <a:picLocks noChangeAspect="1"/>
          </p:cNvPicPr>
          <p:nvPr/>
        </p:nvPicPr>
        <p:blipFill>
          <a:blip r:embed="rId3"/>
          <a:stretch>
            <a:fillRect/>
          </a:stretch>
        </p:blipFill>
        <p:spPr>
          <a:xfrm>
            <a:off x="176463" y="1138989"/>
            <a:ext cx="11654387" cy="5200304"/>
          </a:xfrm>
          <a:prstGeom prst="rect">
            <a:avLst/>
          </a:prstGeom>
        </p:spPr>
      </p:pic>
    </p:spTree>
    <p:extLst>
      <p:ext uri="{BB962C8B-B14F-4D97-AF65-F5344CB8AC3E}">
        <p14:creationId xmlns:p14="http://schemas.microsoft.com/office/powerpoint/2010/main" val="3658568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Login/ register dashboard</a:t>
            </a:r>
          </a:p>
        </p:txBody>
      </p:sp>
      <p:sp>
        <p:nvSpPr>
          <p:cNvPr id="3" name="Text Placeholder 2"/>
          <p:cNvSpPr>
            <a:spLocks noGrp="1"/>
          </p:cNvSpPr>
          <p:nvPr>
            <p:ph type="body" idx="1"/>
          </p:nvPr>
        </p:nvSpPr>
        <p:spPr>
          <a:xfrm>
            <a:off x="7383566" y="1239139"/>
            <a:ext cx="4097233" cy="4631435"/>
          </a:xfrm>
        </p:spPr>
        <p:txBody>
          <a:bodyPr>
            <a:noAutofit/>
          </a:bodyPr>
          <a:lstStyle/>
          <a:p>
            <a:r>
              <a:rPr lang="en-US" sz="1800" dirty="0">
                <a:latin typeface="Times New Roman" pitchFamily="18" charset="0"/>
                <a:cs typeface="Times New Roman" pitchFamily="18" charset="0"/>
              </a:rPr>
              <a:t>Entry point of the </a:t>
            </a:r>
            <a:r>
              <a:rPr lang="en-US" sz="1800" dirty="0" err="1">
                <a:latin typeface="Times New Roman" pitchFamily="18" charset="0"/>
                <a:cs typeface="Times New Roman" pitchFamily="18" charset="0"/>
              </a:rPr>
              <a:t>Agri</a:t>
            </a:r>
            <a:r>
              <a:rPr lang="en-US" sz="1800" dirty="0">
                <a:latin typeface="Times New Roman" pitchFamily="18" charset="0"/>
                <a:cs typeface="Times New Roman" pitchFamily="18" charset="0"/>
              </a:rPr>
              <a:t> Vision system </a:t>
            </a:r>
          </a:p>
          <a:p>
            <a:r>
              <a:rPr lang="en-US" sz="1800" dirty="0">
                <a:latin typeface="Times New Roman" pitchFamily="18" charset="0"/>
                <a:cs typeface="Times New Roman" pitchFamily="18" charset="0"/>
              </a:rPr>
              <a:t>Provides user authentication (Login/Register)</a:t>
            </a:r>
          </a:p>
          <a:p>
            <a:r>
              <a:rPr lang="en-US" sz="1800" dirty="0">
                <a:latin typeface="Times New Roman" pitchFamily="18" charset="0"/>
                <a:cs typeface="Times New Roman" pitchFamily="18" charset="0"/>
              </a:rPr>
              <a:t> Simple and user-friendly interface for farmers</a:t>
            </a:r>
          </a:p>
          <a:p>
            <a:r>
              <a:rPr lang="en-US" sz="1800" dirty="0">
                <a:latin typeface="Times New Roman" pitchFamily="18" charset="0"/>
                <a:cs typeface="Times New Roman" pitchFamily="18" charset="0"/>
              </a:rPr>
              <a:t>Highlights key features:</a:t>
            </a:r>
          </a:p>
          <a:p>
            <a:pPr lvl="1"/>
            <a:r>
              <a:rPr lang="en-US" sz="1800" dirty="0">
                <a:latin typeface="Times New Roman" pitchFamily="18" charset="0"/>
                <a:cs typeface="Times New Roman" pitchFamily="18" charset="0"/>
              </a:rPr>
              <a:t>Disease detection </a:t>
            </a:r>
          </a:p>
          <a:p>
            <a:pPr lvl="1"/>
            <a:r>
              <a:rPr lang="en-US" sz="1800" dirty="0">
                <a:latin typeface="Times New Roman" pitchFamily="18" charset="0"/>
                <a:cs typeface="Times New Roman" pitchFamily="18" charset="0"/>
              </a:rPr>
              <a:t>Crop &amp; soil recommendations </a:t>
            </a:r>
          </a:p>
          <a:p>
            <a:pPr lvl="1"/>
            <a:r>
              <a:rPr lang="en-US" sz="1800" dirty="0">
                <a:latin typeface="Times New Roman" pitchFamily="18" charset="0"/>
                <a:cs typeface="Times New Roman" pitchFamily="18" charset="0"/>
              </a:rPr>
              <a:t>Farming guidance </a:t>
            </a:r>
          </a:p>
          <a:p>
            <a:r>
              <a:rPr lang="en-US" sz="1800" dirty="0">
                <a:latin typeface="Times New Roman" pitchFamily="18" charset="0"/>
                <a:cs typeface="Times New Roman" pitchFamily="18" charset="0"/>
              </a:rPr>
              <a:t>Secure login using backend validation &amp; database Enables personalized dashboard access</a:t>
            </a:r>
          </a:p>
          <a:p>
            <a:r>
              <a:rPr lang="en-US" sz="1800" dirty="0">
                <a:latin typeface="Times New Roman" pitchFamily="18" charset="0"/>
                <a:cs typeface="Times New Roman" pitchFamily="18" charset="0"/>
              </a:rPr>
              <a:t>Designed for easy navigation and accessibility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855" y="1239139"/>
            <a:ext cx="6093152" cy="46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0237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a:t>
            </a:r>
          </a:p>
        </p:txBody>
      </p:sp>
      <p:sp>
        <p:nvSpPr>
          <p:cNvPr id="3" name="Text Placeholder 2"/>
          <p:cNvSpPr>
            <a:spLocks noGrp="1"/>
          </p:cNvSpPr>
          <p:nvPr>
            <p:ph type="body" idx="1"/>
          </p:nvPr>
        </p:nvSpPr>
        <p:spPr>
          <a:xfrm>
            <a:off x="7118648" y="1143001"/>
            <a:ext cx="4362152" cy="4813418"/>
          </a:xfrm>
        </p:spPr>
        <p:txBody>
          <a:bodyPr>
            <a:normAutofit/>
          </a:bodyPr>
          <a:lstStyle/>
          <a:p>
            <a:r>
              <a:rPr lang="en-US" sz="2000" dirty="0">
                <a:latin typeface="Times New Roman" pitchFamily="18" charset="0"/>
                <a:cs typeface="Times New Roman" pitchFamily="18" charset="0"/>
              </a:rPr>
              <a:t>New farmer account creation interface</a:t>
            </a:r>
          </a:p>
          <a:p>
            <a:r>
              <a:rPr lang="en-US" sz="2000" dirty="0">
                <a:latin typeface="Times New Roman" pitchFamily="18" charset="0"/>
                <a:cs typeface="Times New Roman" pitchFamily="18" charset="0"/>
              </a:rPr>
              <a:t>Collects basic user details: </a:t>
            </a:r>
          </a:p>
          <a:p>
            <a:pPr lvl="1"/>
            <a:r>
              <a:rPr lang="en-US" dirty="0">
                <a:latin typeface="Times New Roman" pitchFamily="18" charset="0"/>
                <a:cs typeface="Times New Roman" pitchFamily="18" charset="0"/>
              </a:rPr>
              <a:t>Full Name </a:t>
            </a:r>
          </a:p>
          <a:p>
            <a:pPr lvl="1"/>
            <a:r>
              <a:rPr lang="en-US" dirty="0">
                <a:latin typeface="Times New Roman" pitchFamily="18" charset="0"/>
                <a:cs typeface="Times New Roman" pitchFamily="18" charset="0"/>
              </a:rPr>
              <a:t>Phone Number </a:t>
            </a:r>
          </a:p>
          <a:p>
            <a:pPr lvl="1"/>
            <a:r>
              <a:rPr lang="en-US" dirty="0">
                <a:latin typeface="Times New Roman" pitchFamily="18" charset="0"/>
                <a:cs typeface="Times New Roman" pitchFamily="18" charset="0"/>
              </a:rPr>
              <a:t>Password </a:t>
            </a:r>
          </a:p>
          <a:p>
            <a:r>
              <a:rPr lang="en-US" sz="2000" dirty="0">
                <a:latin typeface="Times New Roman" pitchFamily="18" charset="0"/>
                <a:cs typeface="Times New Roman" pitchFamily="18" charset="0"/>
              </a:rPr>
              <a:t>Secure data storage in database </a:t>
            </a:r>
          </a:p>
          <a:p>
            <a:r>
              <a:rPr lang="en-US" sz="2000" dirty="0">
                <a:latin typeface="Times New Roman" pitchFamily="18" charset="0"/>
                <a:cs typeface="Times New Roman" pitchFamily="18" charset="0"/>
              </a:rPr>
              <a:t>Input validation for correct data entry </a:t>
            </a:r>
          </a:p>
          <a:p>
            <a:r>
              <a:rPr lang="en-US" sz="2000" dirty="0">
                <a:latin typeface="Times New Roman" pitchFamily="18" charset="0"/>
                <a:cs typeface="Times New Roman" pitchFamily="18" charset="0"/>
              </a:rPr>
              <a:t>Enables first-time users to access system features </a:t>
            </a:r>
          </a:p>
          <a:p>
            <a:r>
              <a:rPr lang="en-US" sz="2000" dirty="0">
                <a:latin typeface="Times New Roman" pitchFamily="18" charset="0"/>
                <a:cs typeface="Times New Roman" pitchFamily="18" charset="0"/>
              </a:rPr>
              <a:t>Redirects to login/dashboard after registration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315" y="1153683"/>
            <a:ext cx="5400943" cy="4623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9232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[1] Ministry of Agriculture &amp; Farmers Welfare, Government of India, “Digital Agriculture Mission 2021–2025,” New Delhi, India, 2021.</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[2] Food and Agriculture Organization of the United Nations, “The State of Food and Agriculture,” FAO, Rome, Italy, 2022.</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[3] A. Kamilaris, A. Kartakoullis, and F. X. Prenafeta-Boldú, “A review on the practice of big data analysis in agriculture,” </a:t>
            </a:r>
            <a:r>
              <a:rPr lang="en-US" i="1" dirty="0">
                <a:latin typeface="Times New Roman" panose="02020603050405020304" pitchFamily="18" charset="0"/>
                <a:cs typeface="Times New Roman" panose="02020603050405020304" pitchFamily="18" charset="0"/>
              </a:rPr>
              <a:t>Computers and Electronics in Agriculture</a:t>
            </a:r>
            <a:r>
              <a:rPr lang="en-US" dirty="0">
                <a:latin typeface="Times New Roman" panose="02020603050405020304" pitchFamily="18" charset="0"/>
                <a:cs typeface="Times New Roman" panose="02020603050405020304" pitchFamily="18" charset="0"/>
              </a:rPr>
              <a:t>, vol. 143, pp. 23–37,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[4] S. Wolfert, L. Ge, C. Verdouw, and M. J. Bogaardt, “Big data in smart farming – A review,” </a:t>
            </a:r>
            <a:r>
              <a:rPr lang="en-US" i="1" dirty="0">
                <a:latin typeface="Times New Roman" panose="02020603050405020304" pitchFamily="18" charset="0"/>
                <a:cs typeface="Times New Roman" panose="02020603050405020304" pitchFamily="18" charset="0"/>
              </a:rPr>
              <a:t>Agricultural Systems</a:t>
            </a:r>
            <a:r>
              <a:rPr lang="en-US" dirty="0">
                <a:latin typeface="Times New Roman" panose="02020603050405020304" pitchFamily="18" charset="0"/>
                <a:cs typeface="Times New Roman" panose="02020603050405020304" pitchFamily="18" charset="0"/>
              </a:rPr>
              <a:t>, vol. 153, pp. 69–80,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[5] P. K. Sharma and S. Singh, “Applications of IoT in smart agriculture,” </a:t>
            </a:r>
            <a:r>
              <a:rPr lang="en-US" i="1" dirty="0">
                <a:latin typeface="Times New Roman" panose="02020603050405020304" pitchFamily="18" charset="0"/>
                <a:cs typeface="Times New Roman" panose="02020603050405020304" pitchFamily="18" charset="0"/>
              </a:rPr>
              <a:t>International Journal of Advanced Research in Computer Engineering &amp; Technology</a:t>
            </a:r>
            <a:r>
              <a:rPr lang="en-US" dirty="0">
                <a:latin typeface="Times New Roman" panose="02020603050405020304" pitchFamily="18" charset="0"/>
                <a:cs typeface="Times New Roman" panose="02020603050405020304" pitchFamily="18" charset="0"/>
              </a:rPr>
              <a:t>, vol. 9, no. 6, pp. 82–86, 2020.</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TotalTime>
  <Words>942</Words>
  <Application>Microsoft Office PowerPoint</Application>
  <PresentationFormat>Widescreen</PresentationFormat>
  <Paragraphs>139</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Times New Roman</vt:lpstr>
      <vt:lpstr>Verdana</vt:lpstr>
      <vt:lpstr>Wingdings</vt:lpstr>
      <vt:lpstr>Bioinformatics</vt:lpstr>
      <vt:lpstr>PROJECT TITLE: Enhancing farmer productivity through innovative technology solutions</vt:lpstr>
      <vt:lpstr>Problem Statement Number: </vt:lpstr>
      <vt:lpstr>Content</vt:lpstr>
      <vt:lpstr>Content (continuation)..</vt:lpstr>
      <vt:lpstr>Content (continuation)..</vt:lpstr>
      <vt:lpstr>Content (continuation)..</vt:lpstr>
      <vt:lpstr>Content (continuation)..</vt:lpstr>
      <vt:lpstr>Github Link</vt:lpstr>
      <vt:lpstr>Analysis of Problem Statement</vt:lpstr>
      <vt:lpstr>Content (continuation)..</vt:lpstr>
      <vt:lpstr>Content (continuation)..</vt:lpstr>
      <vt:lpstr>Login/ register dashboard</vt:lpstr>
      <vt:lpstr>Register</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charan j</cp:lastModifiedBy>
  <cp:revision>52</cp:revision>
  <dcterms:modified xsi:type="dcterms:W3CDTF">2026-04-21T16:48:38Z</dcterms:modified>
</cp:coreProperties>
</file>