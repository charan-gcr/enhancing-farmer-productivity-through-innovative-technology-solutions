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69" r:id="rId3"/>
    <p:sldId id="257" r:id="rId4"/>
    <p:sldId id="274" r:id="rId5"/>
    <p:sldId id="277" r:id="rId6"/>
    <p:sldId id="279" r:id="rId7"/>
    <p:sldId id="278" r:id="rId8"/>
    <p:sldId id="268" r:id="rId9"/>
    <p:sldId id="273" r:id="rId10"/>
    <p:sldId id="282" r:id="rId11"/>
    <p:sldId id="280" r:id="rId12"/>
    <p:sldId id="265" r:id="rId13"/>
    <p:sldId id="26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5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070A8389-38C0-6B9D-B589-95521B9F4ADA}"/>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0CE3C6FA-F3D4-797F-A6E3-7F41BEDA9A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48AA922A-09AF-AEA7-9A0C-4FE4779F32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06350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B88AED6-9EB1-EBC8-6EC3-86ED91733B16}"/>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7CEE8931-7B5B-5424-405F-B44EBE6AFE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9C8F7A8C-B309-A5CA-D167-E8DCF300F3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3882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AEDD14EC-C082-4416-96B3-77EEFC49D2F2}"/>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5A0F7737-00F4-1BA9-E1B9-55EBDC17D8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5FA02380-153D-0182-CB23-9994AD716C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330380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716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CF78AE2D-627B-C352-5BC0-188634A1B39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0942A51B-8FB6-C35A-6C4A-52FB469526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DA802C76-3A80-02BB-362B-3929207382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5748183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F964331-3FE8-D2B7-3328-5B4C15E5922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AF8993E9-4559-24BE-054C-40DF0E1D0E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6D2233D4-B035-07B1-FFF5-DA5A49F537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776559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400" dirty="0">
                <a:solidFill>
                  <a:schemeClr val="tx1"/>
                </a:solidFill>
                <a:latin typeface="Cambria" panose="02040503050406030204" pitchFamily="18" charset="0"/>
                <a:ea typeface="Cambria" panose="02040503050406030204" pitchFamily="18" charset="0"/>
              </a:rPr>
              <a:t>PROJECT TITLE:</a:t>
            </a:r>
            <a:br>
              <a:rPr lang="en-GB" sz="2400" dirty="0">
                <a:solidFill>
                  <a:schemeClr val="tx1"/>
                </a:solidFill>
                <a:latin typeface="Cambria" panose="02040503050406030204" pitchFamily="18" charset="0"/>
                <a:ea typeface="Cambria" panose="02040503050406030204" pitchFamily="18" charset="0"/>
              </a:rPr>
            </a:br>
            <a:r>
              <a:rPr lang="en-GB" sz="2400" dirty="0">
                <a:solidFill>
                  <a:schemeClr val="tx1"/>
                </a:solidFill>
                <a:latin typeface="Cambria" panose="02040503050406030204" pitchFamily="18" charset="0"/>
                <a:ea typeface="Cambria" panose="02040503050406030204" pitchFamily="18" charset="0"/>
              </a:rPr>
              <a:t>Enhancing farmer productivity through innovative technology solutions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a:t>
            </a:r>
            <a:r>
              <a:rPr lang="en-GB" sz="1800" dirty="0">
                <a:solidFill>
                  <a:schemeClr val="tx1">
                    <a:lumMod val="85000"/>
                    <a:lumOff val="15000"/>
                  </a:schemeClr>
                </a:solidFill>
                <a:latin typeface="Cambria" panose="02040503050406030204" pitchFamily="18" charset="0"/>
                <a:ea typeface="Cambria" panose="02040503050406030204" pitchFamily="18" charset="0"/>
              </a:rPr>
              <a:t>CSE_124</a:t>
            </a:r>
            <a:endParaRPr sz="1800" dirty="0">
              <a:solidFill>
                <a:schemeClr val="tx1">
                  <a:lumMod val="85000"/>
                  <a:lumOff val="15000"/>
                </a:schemeClr>
              </a:solidFill>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GB" sz="1800" dirty="0">
              <a:latin typeface="Cambria" panose="02040503050406030204" pitchFamily="18" charset="0"/>
              <a:ea typeface="Cambria" panose="02040503050406030204" pitchFamily="18" charset="0"/>
            </a:endParaRPr>
          </a:p>
          <a:p>
            <a:pPr marL="0" marR="0" lvl="0" indent="0" algn="ctr" rtl="0">
              <a:spcBef>
                <a:spcPts val="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Ms. Radhika Sreedharan</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762609451"/>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u="none" strike="noStrike" cap="none" dirty="0"/>
                        <a:t>20221CSE0301</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CHARAN J</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u="none" strike="noStrike" cap="none" dirty="0"/>
                        <a:t>20221CSE0304</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NAGENDRA BABU R</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u="none" strike="noStrike" cap="none" dirty="0"/>
                        <a:t>20221CSE0752</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VISHWAS Y S</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IN" sz="1800" b="1" i="0" u="none" strike="noStrike" cap="none" dirty="0">
                <a:solidFill>
                  <a:schemeClr val="tx1">
                    <a:lumMod val="85000"/>
                    <a:lumOff val="15000"/>
                  </a:schemeClr>
                </a:solidFill>
                <a:latin typeface="Cambria" panose="02040503050406030204" pitchFamily="18" charset="0"/>
                <a:ea typeface="Cambria" panose="02040503050406030204" pitchFamily="18" charset="0"/>
                <a:cs typeface="Verdana"/>
                <a:sym typeface="Verdana"/>
              </a:rPr>
              <a:t>B.Tech(CSE)</a:t>
            </a:r>
            <a:endParaRPr lang="en-US" sz="1800" b="1" i="0" u="none" strike="noStrike" cap="none" dirty="0">
              <a:solidFill>
                <a:schemeClr val="tx1">
                  <a:lumMod val="85000"/>
                  <a:lumOff val="15000"/>
                </a:schemeClr>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a:t>
            </a:r>
            <a:r>
              <a:rPr lang="en-US" sz="1800" dirty="0">
                <a:solidFill>
                  <a:schemeClr val="accent1"/>
                </a:solidFill>
                <a:latin typeface="Cambria" panose="02040503050406030204" pitchFamily="18" charset="0"/>
                <a:ea typeface="Cambria" panose="02040503050406030204" pitchFamily="18" charset="0"/>
                <a:cs typeface="Verdana"/>
                <a:sym typeface="Verdana"/>
              </a:rPr>
              <a:t>:  </a:t>
            </a:r>
            <a:r>
              <a:rPr lang="en-IN" sz="1800" b="1" dirty="0"/>
              <a:t>Dr. Blessed Prince</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b="1" dirty="0">
                <a:solidFill>
                  <a:schemeClr val="accent1"/>
                </a:solidFill>
                <a:latin typeface="Cambria" panose="02040503050406030204" pitchFamily="18" charset="0"/>
                <a:ea typeface="Cambria" panose="02040503050406030204" pitchFamily="18" charset="0"/>
                <a:cs typeface="Verdana"/>
                <a:sym typeface="Verdana"/>
              </a:rPr>
              <a:t> </a:t>
            </a:r>
            <a:r>
              <a:rPr lang="en-IN" sz="1800" b="1" dirty="0">
                <a:solidFill>
                  <a:schemeClr val="tx1"/>
                </a:solidFill>
                <a:latin typeface="Cambria" panose="02040503050406030204" pitchFamily="18" charset="0"/>
                <a:ea typeface="Cambria" panose="02040503050406030204" pitchFamily="18" charset="0"/>
                <a:cs typeface="Verdana"/>
                <a:sym typeface="Verdana"/>
              </a:rPr>
              <a:t>Muthuraju V</a:t>
            </a:r>
            <a:r>
              <a:rPr lang="en-IN" sz="1800" b="1" dirty="0">
                <a:solidFill>
                  <a:schemeClr val="tx1"/>
                </a:solidFill>
              </a:rPr>
              <a:t> </a:t>
            </a:r>
            <a:endParaRPr lang="en-US" sz="1800" b="1"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70000" lnSpcReduction="2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 </a:t>
            </a:r>
            <a:r>
              <a:rPr lang="en-IN" dirty="0"/>
              <a:t>Ministry of Agriculture &amp; Farmers Welfare(MoA&amp;FW) </a:t>
            </a: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   Software </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a:t>
            </a:r>
            <a:r>
              <a:rPr lang="en-US" sz="2200" b="1" dirty="0">
                <a:latin typeface="Cambria" panose="02040503050406030204" pitchFamily="18" charset="0"/>
                <a:ea typeface="Cambria" panose="02040503050406030204" pitchFamily="18" charset="0"/>
              </a:rPr>
              <a:t>: </a:t>
            </a:r>
            <a:r>
              <a:rPr lang="en-US" sz="2300" dirty="0">
                <a:latin typeface="Cambria" panose="02040503050406030204" pitchFamily="18" charset="0"/>
                <a:ea typeface="Cambria" panose="02040503050406030204" pitchFamily="18" charset="0"/>
              </a:rPr>
              <a:t>The </a:t>
            </a:r>
            <a:r>
              <a:rPr lang="en-US" sz="2000" dirty="0"/>
              <a:t>system aims to improve farmer productivity by providing technology-based decision support for agriculture. It uses data such as soil health, weather conditions, and crop information to generate smart recommendations. The solution helps farmers increase yield, reduce costs, and adopt sustainable farming practices.</a:t>
            </a:r>
          </a:p>
          <a:p>
            <a:pPr marL="342900" lvl="0" indent="-190500" algn="just">
              <a:lnSpc>
                <a:spcPct val="200000"/>
              </a:lnSpc>
              <a:spcBef>
                <a:spcPts val="0"/>
              </a:spcBef>
              <a:buNone/>
            </a:pPr>
            <a:r>
              <a:rPr lang="en-US" sz="2300" dirty="0" err="1">
                <a:latin typeface="Cambria" panose="02040503050406030204" pitchFamily="18" charset="0"/>
                <a:ea typeface="Cambria" panose="02040503050406030204" pitchFamily="18" charset="0"/>
              </a:rPr>
              <a:t>i</a:t>
            </a:r>
            <a:r>
              <a:rPr lang="en-US" sz="2300" dirty="0">
                <a:latin typeface="Cambria" panose="02040503050406030204" pitchFamily="18" charset="0"/>
                <a:ea typeface="Cambria" panose="02040503050406030204" pitchFamily="18" charset="0"/>
              </a:rPr>
              <a:t>. </a:t>
            </a:r>
            <a:r>
              <a:rPr lang="en-US" sz="2000" dirty="0"/>
              <a:t>Suggests suitable crops based on soil, season, and climate</a:t>
            </a:r>
            <a:r>
              <a:rPr lang="en-US" sz="2300" dirty="0">
                <a:latin typeface="Cambria" panose="02040503050406030204" pitchFamily="18" charset="0"/>
                <a:ea typeface="Cambria" panose="02040503050406030204" pitchFamily="18" charset="0"/>
              </a:rPr>
              <a:t>.</a:t>
            </a:r>
          </a:p>
          <a:p>
            <a:pPr marL="342900" lvl="0" indent="-190500" algn="just">
              <a:lnSpc>
                <a:spcPct val="200000"/>
              </a:lnSpc>
              <a:spcBef>
                <a:spcPts val="0"/>
              </a:spcBef>
              <a:buNone/>
            </a:pPr>
            <a:r>
              <a:rPr lang="en-US" sz="2300" dirty="0">
                <a:latin typeface="Cambria" panose="02040503050406030204" pitchFamily="18" charset="0"/>
                <a:ea typeface="Cambria" panose="02040503050406030204" pitchFamily="18" charset="0"/>
              </a:rPr>
              <a:t>ii. </a:t>
            </a:r>
            <a:r>
              <a:rPr lang="en-US" sz="2000" dirty="0"/>
              <a:t>Provides irrigation and fertilizer guidance to save water and improve yield.</a:t>
            </a:r>
            <a:endParaRPr lang="en-US" sz="23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sz="2300" dirty="0">
                <a:latin typeface="Cambria" panose="02040503050406030204" pitchFamily="18" charset="0"/>
                <a:ea typeface="Cambria" panose="02040503050406030204" pitchFamily="18" charset="0"/>
              </a:rPr>
              <a:t>iii.</a:t>
            </a:r>
            <a:r>
              <a:rPr lang="en-US" sz="2000" dirty="0"/>
              <a:t> Gives pest, disease, and weather alerts for timely action.</a:t>
            </a:r>
            <a:endParaRPr lang="en-US" sz="2300" dirty="0">
              <a:latin typeface="Cambria" panose="02040503050406030204" pitchFamily="18" charset="0"/>
              <a:ea typeface="Cambria" panose="02040503050406030204" pitchFamily="18" charset="0"/>
            </a:endParaRPr>
          </a:p>
          <a:p>
            <a:pPr marL="342900" indent="-190500" algn="just">
              <a:lnSpc>
                <a:spcPct val="200000"/>
              </a:lnSpc>
              <a:spcBef>
                <a:spcPts val="0"/>
              </a:spcBef>
              <a:buNone/>
            </a:pPr>
            <a:r>
              <a:rPr lang="en-US" sz="2300" dirty="0">
                <a:latin typeface="Cambria" panose="02040503050406030204" pitchFamily="18" charset="0"/>
                <a:ea typeface="Cambria" panose="02040503050406030204" pitchFamily="18" charset="0"/>
              </a:rPr>
              <a:t>iv. </a:t>
            </a:r>
            <a:r>
              <a:rPr lang="en-US" sz="2000" dirty="0"/>
              <a:t>Estimates crop yield and overall farm productivity.</a:t>
            </a:r>
            <a:endParaRPr lang="en-US" sz="2300" dirty="0">
              <a:latin typeface="Cambria" panose="02040503050406030204" pitchFamily="18" charset="0"/>
              <a:ea typeface="Cambria" panose="02040503050406030204" pitchFamily="18" charset="0"/>
            </a:endParaRPr>
          </a:p>
          <a:p>
            <a:pPr marL="342900" indent="-190500" algn="just">
              <a:lnSpc>
                <a:spcPct val="200000"/>
              </a:lnSpc>
              <a:spcBef>
                <a:spcPts val="0"/>
              </a:spcBef>
              <a:buNone/>
            </a:pPr>
            <a:r>
              <a:rPr lang="en-US" sz="2300" dirty="0">
                <a:latin typeface="Cambria" panose="02040503050406030204" pitchFamily="18" charset="0"/>
                <a:ea typeface="Cambria" panose="02040503050406030204" pitchFamily="18" charset="0"/>
              </a:rPr>
              <a:t>v. </a:t>
            </a:r>
            <a:r>
              <a:rPr lang="en-US" sz="2000" dirty="0"/>
              <a:t>Shows market prices and modern farming methods to increase farmer income.</a:t>
            </a:r>
          </a:p>
          <a:p>
            <a:pPr marL="342900" lvl="0" indent="-190500" algn="just">
              <a:lnSpc>
                <a:spcPct val="200000"/>
              </a:lnSpc>
              <a:spcBef>
                <a:spcPts val="0"/>
              </a:spcBef>
              <a:buNone/>
            </a:pPr>
            <a:endParaRPr lang="en-US" sz="23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Git-hub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7500" lnSpcReduction="20000"/>
          </a:bodyPr>
          <a:lstStyle/>
          <a:p>
            <a:pPr marL="495300" indent="-342900" algn="just">
              <a:lnSpc>
                <a:spcPct val="20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 </a:t>
            </a:r>
            <a:r>
              <a:rPr lang="en-US" sz="2600" dirty="0">
                <a:latin typeface="Times New Roman" panose="02020603050405020304" pitchFamily="18" charset="0"/>
                <a:cs typeface="Times New Roman" panose="02020603050405020304" pitchFamily="18" charset="0"/>
              </a:rPr>
              <a:t>Farmers face challenges in making timely and accurate decisions related to crop selection, irrigation, and pest management due to lack of reliable information.</a:t>
            </a:r>
            <a:endParaRPr lang="en-US" sz="2600"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Traditional farming practices rely on experience and guesswork, leading to low productivity, higher input costs, and crop losses</a:t>
            </a:r>
            <a:r>
              <a:rPr lang="en-US" sz="2600" dirty="0">
                <a:latin typeface="Times New Roman" panose="02020603050405020304" pitchFamily="18" charset="0"/>
                <a:ea typeface="Cambria" panose="02040503050406030204" pitchFamily="18" charset="0"/>
                <a:cs typeface="Times New Roman" panose="02020603050405020304" pitchFamily="18" charset="0"/>
              </a:rPr>
              <a:t>.</a:t>
            </a:r>
          </a:p>
          <a:p>
            <a:pPr marL="495300" lvl="0" indent="-342900" algn="just">
              <a:lnSpc>
                <a:spcPct val="200000"/>
              </a:lnSpc>
              <a:spcBef>
                <a:spcPts val="0"/>
              </a:spcBef>
              <a:buFont typeface="Wingdings" panose="05000000000000000000" pitchFamily="2" charset="2"/>
              <a:buChar char="Ø"/>
            </a:pPr>
            <a:r>
              <a:rPr lang="en-US" sz="2600" dirty="0">
                <a:latin typeface="Times New Roman" panose="02020603050405020304" pitchFamily="18" charset="0"/>
                <a:ea typeface="Cambria" panose="02040503050406030204" pitchFamily="18" charset="0"/>
                <a:cs typeface="Times New Roman" panose="02020603050405020304" pitchFamily="18" charset="0"/>
              </a:rPr>
              <a:t>A data-driven, AI-enabled system can provide </a:t>
            </a:r>
            <a:r>
              <a:rPr lang="en-US" sz="2600" dirty="0">
                <a:latin typeface="Times New Roman" panose="02020603050405020304" pitchFamily="18" charset="0"/>
                <a:cs typeface="Times New Roman" panose="02020603050405020304" pitchFamily="18" charset="0"/>
              </a:rPr>
              <a:t>smart recommendations, improve farm efficiency, and increase farmer income sustainably.</a:t>
            </a:r>
            <a:endParaRPr lang="en-US" sz="2600"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8A85E927-59E8-865E-AD0F-659FC467A64A}"/>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CA7FB6D4-188F-35D0-BDF1-2E5BDC0351EF}"/>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64809FDD-ACE7-8047-2169-85EA1B351A6F}"/>
              </a:ext>
            </a:extLst>
          </p:cNvPr>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Objectives:</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help farmers choose the right crop for their land and season.</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guide farmers on proper irrigation and fertilizer usage.</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provide weather, pest, and disease alerts on time.</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increase crop yield, reduce costs, and improve farmer income.</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36384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163986FF-5597-A87E-2289-AE760C61C072}"/>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2EEBD4B6-527C-F282-43BD-2D104E143BE7}"/>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0FADDAB2-11DA-B01B-A3AC-E8D721C60F3A}"/>
              </a:ext>
            </a:extLst>
          </p:cNvPr>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Background and Related work for title Selection :</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 </a:t>
            </a:r>
            <a:r>
              <a:rPr lang="en-US" dirty="0">
                <a:latin typeface="Times New Roman" panose="02020603050405020304" pitchFamily="18" charset="0"/>
                <a:cs typeface="Times New Roman" panose="02020603050405020304" pitchFamily="18" charset="0"/>
              </a:rPr>
              <a:t>Farming depends heavily on weather, soil, and water availability.</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Most farmers still use traditional methods based on experience.</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New technologies like mobile apps and sensors are being used in agriculture.</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There is a need for simple and integrated technology solutions for farmers.</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77825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4038860A-660F-9E74-8D80-31C903571753}"/>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4A575A4C-17F3-37A0-D8FB-2F9A92636EA6}"/>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D8F4C7B3-D77B-AD5A-6168-FEB363A950B9}"/>
              </a:ext>
            </a:extLst>
          </p:cNvPr>
          <p:cNvSpPr txBox="1">
            <a:spLocks noGrp="1"/>
          </p:cNvSpPr>
          <p:nvPr>
            <p:ph type="body" idx="1"/>
          </p:nvPr>
        </p:nvSpPr>
        <p:spPr>
          <a:xfrm>
            <a:off x="655782" y="1163782"/>
            <a:ext cx="10668000" cy="4675909"/>
          </a:xfrm>
          <a:prstGeom prst="rect">
            <a:avLst/>
          </a:prstGeom>
          <a:noFill/>
          <a:ln>
            <a:noFill/>
          </a:ln>
        </p:spPr>
        <p:txBody>
          <a:bodyPr spcFirstLastPara="1" wrap="square" lIns="91425" tIns="45700" rIns="91425" bIns="45700" anchor="t" anchorCtr="0">
            <a:normAutofit fontScale="40000" lnSpcReduction="20000"/>
          </a:bodyPr>
          <a:lstStyle/>
          <a:p>
            <a:pPr marL="495300" indent="-342900" algn="just">
              <a:lnSpc>
                <a:spcPct val="200000"/>
              </a:lnSpc>
              <a:spcBef>
                <a:spcPts val="0"/>
              </a:spcBef>
              <a:buFont typeface="Arial" panose="020B0604020202020204" pitchFamily="34" charset="0"/>
              <a:buChar char="•"/>
            </a:pPr>
            <a:r>
              <a:rPr lang="en-US" sz="4200" b="1" dirty="0">
                <a:latin typeface="Cambria" panose="02040503050406030204" pitchFamily="18" charset="0"/>
                <a:ea typeface="Cambria" panose="02040503050406030204" pitchFamily="18" charset="0"/>
              </a:rPr>
              <a:t>Analysis of Problem Statement:</a:t>
            </a:r>
          </a:p>
          <a:p>
            <a:pPr marL="152400" lvl="0" indent="0" algn="just">
              <a:lnSpc>
                <a:spcPct val="200000"/>
              </a:lnSpc>
              <a:spcBef>
                <a:spcPts val="0"/>
              </a:spcBef>
              <a:buNone/>
            </a:pPr>
            <a:r>
              <a:rPr lang="en-US" sz="3800" dirty="0">
                <a:latin typeface="Cambria" panose="02040503050406030204" pitchFamily="18" charset="0"/>
                <a:ea typeface="Cambria" panose="02040503050406030204" pitchFamily="18" charset="0"/>
              </a:rPr>
              <a:t> </a:t>
            </a:r>
            <a:r>
              <a:rPr lang="en-US" sz="3800" u="sng" dirty="0">
                <a:latin typeface="Cambria" panose="02040503050406030204" pitchFamily="18" charset="0"/>
                <a:ea typeface="Cambria" panose="02040503050406030204" pitchFamily="18" charset="0"/>
              </a:rPr>
              <a:t>Challenges:</a:t>
            </a:r>
          </a:p>
          <a:p>
            <a:pPr marL="495300" lvl="0" indent="-342900" algn="just">
              <a:lnSpc>
                <a:spcPct val="200000"/>
              </a:lnSpc>
              <a:spcBef>
                <a:spcPts val="0"/>
              </a:spcBef>
              <a:buFont typeface="Wingdings" panose="05000000000000000000" pitchFamily="2" charset="2"/>
              <a:buChar char="Ø"/>
            </a:pPr>
            <a:r>
              <a:rPr lang="en-US" sz="4500" dirty="0">
                <a:latin typeface="Times New Roman" panose="02020603050405020304" pitchFamily="18" charset="0"/>
                <a:cs typeface="Times New Roman" panose="02020603050405020304" pitchFamily="18" charset="0"/>
              </a:rPr>
              <a:t>Farmers have limited access to modern technology.</a:t>
            </a:r>
          </a:p>
          <a:p>
            <a:pPr marL="495300" indent="-342900" algn="just">
              <a:lnSpc>
                <a:spcPct val="200000"/>
              </a:lnSpc>
              <a:spcBef>
                <a:spcPts val="0"/>
              </a:spcBef>
              <a:buFont typeface="Wingdings" panose="05000000000000000000" pitchFamily="2" charset="2"/>
              <a:buChar char="Ø"/>
            </a:pPr>
            <a:r>
              <a:rPr lang="en-US" sz="4500" dirty="0">
                <a:latin typeface="Times New Roman" panose="02020603050405020304" pitchFamily="18" charset="0"/>
                <a:cs typeface="Times New Roman" panose="02020603050405020304" pitchFamily="18" charset="0"/>
              </a:rPr>
              <a:t>Weather changes and pests affect crops.</a:t>
            </a:r>
          </a:p>
          <a:p>
            <a:pPr marL="495300" lvl="0" indent="-342900" algn="just">
              <a:lnSpc>
                <a:spcPct val="200000"/>
              </a:lnSpc>
              <a:spcBef>
                <a:spcPts val="0"/>
              </a:spcBef>
              <a:buFont typeface="Wingdings" panose="05000000000000000000" pitchFamily="2" charset="2"/>
              <a:buChar char="Ø"/>
            </a:pPr>
            <a:r>
              <a:rPr lang="en-US" sz="4500" dirty="0">
                <a:latin typeface="Times New Roman" panose="02020603050405020304" pitchFamily="18" charset="0"/>
                <a:cs typeface="Times New Roman" panose="02020603050405020304" pitchFamily="18" charset="0"/>
              </a:rPr>
              <a:t>Lack of proper information for farming decisions.</a:t>
            </a:r>
          </a:p>
          <a:p>
            <a:pPr marL="152400" lvl="0" indent="0" algn="just">
              <a:lnSpc>
                <a:spcPct val="200000"/>
              </a:lnSpc>
              <a:spcBef>
                <a:spcPts val="0"/>
              </a:spcBef>
              <a:buNone/>
            </a:pPr>
            <a:r>
              <a:rPr lang="en-US" sz="3800" u="sng" dirty="0">
                <a:latin typeface="Cambria" panose="02040503050406030204" pitchFamily="18" charset="0"/>
                <a:ea typeface="Cambria" panose="02040503050406030204" pitchFamily="18" charset="0"/>
              </a:rPr>
              <a:t>Impact:</a:t>
            </a:r>
          </a:p>
          <a:p>
            <a:pPr marL="495300" lvl="0" indent="-342900" algn="just">
              <a:lnSpc>
                <a:spcPct val="200000"/>
              </a:lnSpc>
              <a:spcBef>
                <a:spcPts val="0"/>
              </a:spcBef>
              <a:buFont typeface="Wingdings" panose="05000000000000000000" pitchFamily="2" charset="2"/>
              <a:buChar char="Ø"/>
            </a:pPr>
            <a:r>
              <a:rPr lang="en-US" sz="4800" dirty="0">
                <a:latin typeface="Times New Roman" panose="02020603050405020304" pitchFamily="18" charset="0"/>
                <a:cs typeface="Times New Roman" panose="02020603050405020304" pitchFamily="18" charset="0"/>
              </a:rPr>
              <a:t>Better crop yield and farm productivity</a:t>
            </a:r>
            <a:r>
              <a:rPr lang="en-US" sz="4800" dirty="0">
                <a:latin typeface="Times New Roman" panose="02020603050405020304" pitchFamily="18" charset="0"/>
                <a:ea typeface="Cambria" panose="02040503050406030204" pitchFamily="18" charset="0"/>
                <a:cs typeface="Times New Roman" panose="02020603050405020304" pitchFamily="18" charset="0"/>
              </a:rPr>
              <a:t>.</a:t>
            </a:r>
          </a:p>
          <a:p>
            <a:pPr marL="495300" indent="-342900" algn="just">
              <a:lnSpc>
                <a:spcPct val="200000"/>
              </a:lnSpc>
              <a:spcBef>
                <a:spcPts val="0"/>
              </a:spcBef>
              <a:buFont typeface="Wingdings" panose="05000000000000000000" pitchFamily="2" charset="2"/>
              <a:buChar char="Ø"/>
            </a:pPr>
            <a:r>
              <a:rPr lang="en-US" sz="4800" dirty="0">
                <a:latin typeface="Times New Roman" panose="02020603050405020304" pitchFamily="18" charset="0"/>
                <a:cs typeface="Times New Roman" panose="02020603050405020304" pitchFamily="18" charset="0"/>
              </a:rPr>
              <a:t>Reduced cost of farming inputs.</a:t>
            </a:r>
          </a:p>
          <a:p>
            <a:pPr marL="495300" indent="-342900" algn="just">
              <a:lnSpc>
                <a:spcPct val="200000"/>
              </a:lnSpc>
              <a:spcBef>
                <a:spcPts val="0"/>
              </a:spcBef>
              <a:buFont typeface="Wingdings" panose="05000000000000000000" pitchFamily="2" charset="2"/>
              <a:buChar char="Ø"/>
            </a:pPr>
            <a:r>
              <a:rPr lang="en-US" sz="4800" dirty="0">
                <a:latin typeface="Times New Roman" panose="02020603050405020304" pitchFamily="18" charset="0"/>
                <a:cs typeface="Times New Roman" panose="02020603050405020304" pitchFamily="18" charset="0"/>
              </a:rPr>
              <a:t>Increased farmer income and sustainable farming</a:t>
            </a:r>
            <a:r>
              <a:rPr lang="en-US" sz="4800" dirty="0"/>
              <a:t>.</a:t>
            </a:r>
            <a:endParaRPr lang="en-US" sz="4800" dirty="0">
              <a:latin typeface="Times New Roman" panose="02020603050405020304" pitchFamily="18" charset="0"/>
              <a:ea typeface="Cambria" panose="02040503050406030204" pitchFamily="18" charset="0"/>
              <a:cs typeface="Times New Roman" panose="02020603050405020304" pitchFamily="18" charset="0"/>
            </a:endParaRPr>
          </a:p>
          <a:p>
            <a:endParaRPr lang="en-US" sz="38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78786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URL:</a:t>
            </a: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hlinkClick r:id="rId3" action="ppaction://hlinksldjump"/>
            </a:endParaRPr>
          </a:p>
          <a:p>
            <a:pPr marL="342900" indent="-190500" algn="just">
              <a:spcBef>
                <a:spcPts val="0"/>
              </a:spcBef>
              <a:buSzPct val="100000"/>
              <a:buNone/>
            </a:pPr>
            <a:r>
              <a:rPr lang="en-US" b="1" dirty="0">
                <a:solidFill>
                  <a:schemeClr val="accent2">
                    <a:lumMod val="75000"/>
                  </a:schemeClr>
                </a:solidFill>
                <a:latin typeface="Cambria" panose="02040503050406030204" pitchFamily="18" charset="0"/>
                <a:ea typeface="Cambria" panose="02040503050406030204" pitchFamily="18" charset="0"/>
                <a:hlinkClick r:id="rId3" action="ppaction://hlinksldjump"/>
              </a:rPr>
              <a:t>https://github.com/Charan-gcr/Enhancing-farmer-productivity-through-innovative-technology-solutions</a:t>
            </a: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92500" lnSpcReduction="10000"/>
          </a:bodyPr>
          <a:lstStyle/>
          <a:p>
            <a:pPr marL="342900" lvl="0" indent="-190500" algn="just" rtl="0">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Technology Stack Components:</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Times New Roman" panose="02020603050405020304" pitchFamily="18" charset="0"/>
                <a:cs typeface="Times New Roman" panose="02020603050405020304" pitchFamily="18" charset="0"/>
              </a:rPr>
              <a:t>Frontend: Web or mobile interface for farmers (HTML, CSS, JavaScript / Android app).</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Backend: Python /Java/Node.js</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Database &amp; Analytics: MySQL/Firebase.</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b="1" dirty="0">
                <a:latin typeface="Cambria" panose="02040503050406030204" pitchFamily="18" charset="0"/>
                <a:ea typeface="Cambria" panose="02040503050406030204" pitchFamily="18" charset="0"/>
              </a:rPr>
              <a:t>Software Requirements:</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Operating System: Windows/Linux/Android</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Web Browser: Google Chrome</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Development Tools: VS Code/Android Studio</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92A63088-F72F-B316-155E-FD7474C50C98}"/>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F11A570D-A402-3185-D729-D2D9E757AC56}"/>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D2D60F7F-75BF-864F-1272-9C110BA062F9}"/>
              </a:ext>
            </a:extLst>
          </p:cNvPr>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Innovation or Novel Contributions</a:t>
            </a:r>
            <a:r>
              <a:rPr lang="en-US" dirty="0">
                <a:latin typeface="Cambria" panose="02040503050406030204" pitchFamily="18" charset="0"/>
                <a:ea typeface="Cambria" panose="02040503050406030204" pitchFamily="18" charset="0"/>
              </a:rPr>
              <a:t>:</a:t>
            </a:r>
            <a:endParaRPr lang="en-US" b="1"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 </a:t>
            </a:r>
            <a:r>
              <a:rPr lang="en-US" dirty="0">
                <a:latin typeface="Times New Roman" panose="02020603050405020304" pitchFamily="18" charset="0"/>
                <a:cs typeface="Times New Roman" panose="02020603050405020304" pitchFamily="18" charset="0"/>
              </a:rPr>
              <a:t>Combines soil, weather, and crop data in a single platform.</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Provides simple and easy-to-understand recommendations for farmers. </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Offers real-time alerts for weather, pests, and diseases. </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Supports farmers in increasing yield and income using technology.</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25947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642D24CA-E287-2929-7D48-EAD3646DE839}"/>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F2FD7F2B-3198-0179-E468-EE5313DCE6D7}"/>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36590D89-9C9C-E05F-DBE9-F04FCA63C815}"/>
              </a:ext>
            </a:extLst>
          </p:cNvPr>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 </a:t>
            </a:r>
            <a:endParaRPr lang="en-US" b="1"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 </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FA0C6410-C5E6-B421-A464-F99DC673D27E}"/>
              </a:ext>
            </a:extLst>
          </p:cNvPr>
          <p:cNvPicPr>
            <a:picLocks noChangeAspect="1"/>
          </p:cNvPicPr>
          <p:nvPr/>
        </p:nvPicPr>
        <p:blipFill>
          <a:blip r:embed="rId3"/>
          <a:stretch>
            <a:fillRect/>
          </a:stretch>
        </p:blipFill>
        <p:spPr>
          <a:xfrm>
            <a:off x="176463" y="1138989"/>
            <a:ext cx="11654387" cy="5200304"/>
          </a:xfrm>
          <a:prstGeom prst="rect">
            <a:avLst/>
          </a:prstGeom>
        </p:spPr>
      </p:pic>
    </p:spTree>
    <p:extLst>
      <p:ext uri="{BB962C8B-B14F-4D97-AF65-F5344CB8AC3E}">
        <p14:creationId xmlns:p14="http://schemas.microsoft.com/office/powerpoint/2010/main" val="3658568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[1] Ministry of Agriculture &amp; Farmers Welfare, Government of India, “Digital Agriculture Mission 2021–2025,” New Delhi, India, 2021.</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[2] Food and Agriculture Organization of the United Nations, “The State of Food and Agriculture,” FAO, Rome, Italy, 2022.</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[3] A. Kamilaris, A. Kartakoullis, and F. X. Prenafeta-Boldú, “A review on the practice of big data analysis in agriculture,” </a:t>
            </a:r>
            <a:r>
              <a:rPr lang="en-US" i="1" dirty="0">
                <a:latin typeface="Times New Roman" panose="02020603050405020304" pitchFamily="18" charset="0"/>
                <a:cs typeface="Times New Roman" panose="02020603050405020304" pitchFamily="18" charset="0"/>
              </a:rPr>
              <a:t>Computers and Electronics in Agriculture</a:t>
            </a:r>
            <a:r>
              <a:rPr lang="en-US" dirty="0">
                <a:latin typeface="Times New Roman" panose="02020603050405020304" pitchFamily="18" charset="0"/>
                <a:cs typeface="Times New Roman" panose="02020603050405020304" pitchFamily="18" charset="0"/>
              </a:rPr>
              <a:t>, vol. 143, pp. 23–37, 2017.</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[4] S. Wolfert, L. Ge, C. Verdouw, and M. J. Bogaardt, “Big data in smart farming – A review,” </a:t>
            </a:r>
            <a:r>
              <a:rPr lang="en-US" i="1" dirty="0">
                <a:latin typeface="Times New Roman" panose="02020603050405020304" pitchFamily="18" charset="0"/>
                <a:cs typeface="Times New Roman" panose="02020603050405020304" pitchFamily="18" charset="0"/>
              </a:rPr>
              <a:t>Agricultural Systems</a:t>
            </a:r>
            <a:r>
              <a:rPr lang="en-US" dirty="0">
                <a:latin typeface="Times New Roman" panose="02020603050405020304" pitchFamily="18" charset="0"/>
                <a:cs typeface="Times New Roman" panose="02020603050405020304" pitchFamily="18" charset="0"/>
              </a:rPr>
              <a:t>, vol. 153, pp. 69–80, 2017.</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[5] P. K. Sharma and S. Singh, “Applications of IoT in smart agriculture,” </a:t>
            </a:r>
            <a:r>
              <a:rPr lang="en-US" i="1" dirty="0">
                <a:latin typeface="Times New Roman" panose="02020603050405020304" pitchFamily="18" charset="0"/>
                <a:cs typeface="Times New Roman" panose="02020603050405020304" pitchFamily="18" charset="0"/>
              </a:rPr>
              <a:t>International Journal of Advanced Research in Computer Engineering &amp; Technology</a:t>
            </a:r>
            <a:r>
              <a:rPr lang="en-US" dirty="0">
                <a:latin typeface="Times New Roman" panose="02020603050405020304" pitchFamily="18" charset="0"/>
                <a:cs typeface="Times New Roman" panose="02020603050405020304" pitchFamily="18" charset="0"/>
              </a:rPr>
              <a:t>, vol. 9, no. 6, pp. 82–86, 2020.</a:t>
            </a: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383</TotalTime>
  <Words>845</Words>
  <Application>Microsoft Office PowerPoint</Application>
  <PresentationFormat>Widescreen</PresentationFormat>
  <Paragraphs>118</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Cambria</vt:lpstr>
      <vt:lpstr>Times New Roman</vt:lpstr>
      <vt:lpstr>Verdana</vt:lpstr>
      <vt:lpstr>Wingdings</vt:lpstr>
      <vt:lpstr>Bioinformatics</vt:lpstr>
      <vt:lpstr>PROJECT TITLE: Enhancing farmer productivity through innovative technology solutions</vt:lpstr>
      <vt:lpstr>Problem Statement Number: </vt:lpstr>
      <vt:lpstr>Content</vt:lpstr>
      <vt:lpstr>Content (continuation)..</vt:lpstr>
      <vt:lpstr>Content (continuation)..</vt:lpstr>
      <vt:lpstr>Content (continuation)..</vt:lpstr>
      <vt:lpstr>Content (continuation)..</vt:lpstr>
      <vt:lpstr>Github Link</vt:lpstr>
      <vt:lpstr>Analysis of Problem Statement</vt:lpstr>
      <vt:lpstr>Content (continuation)..</vt:lpstr>
      <vt:lpstr>Content (continuation)..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charan j</cp:lastModifiedBy>
  <cp:revision>41</cp:revision>
  <dcterms:modified xsi:type="dcterms:W3CDTF">2026-01-13T11:51:17Z</dcterms:modified>
</cp:coreProperties>
</file>