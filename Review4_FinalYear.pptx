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8"/>
  </p:notesMasterIdLst>
  <p:sldIdLst>
    <p:sldId id="256" r:id="rId2"/>
    <p:sldId id="269" r:id="rId3"/>
    <p:sldId id="257" r:id="rId4"/>
    <p:sldId id="274" r:id="rId5"/>
    <p:sldId id="277" r:id="rId6"/>
    <p:sldId id="279" r:id="rId7"/>
    <p:sldId id="278" r:id="rId8"/>
    <p:sldId id="268" r:id="rId9"/>
    <p:sldId id="273" r:id="rId10"/>
    <p:sldId id="282" r:id="rId11"/>
    <p:sldId id="280" r:id="rId12"/>
    <p:sldId id="283" r:id="rId13"/>
    <p:sldId id="285" r:id="rId14"/>
    <p:sldId id="284" r:id="rId15"/>
    <p:sldId id="265" r:id="rId16"/>
    <p:sldId id="266"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4" d="100"/>
          <a:sy n="54" d="100"/>
        </p:scale>
        <p:origin x="773" y="86"/>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55291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832441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4939560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070A8389-38C0-6B9D-B589-95521B9F4ADA}"/>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0CE3C6FA-F3D4-797F-A6E3-7F41BEDA9A4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48AA922A-09AF-AEA7-9A0C-4FE4779F32B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5063501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8B88AED6-9EB1-EBC8-6EC3-86ED91733B16}"/>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7CEE8931-7B5B-5424-405F-B44EBE6AFEF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9C8F7A8C-B309-A5CA-D167-E8DCF300F35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638827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AEDD14EC-C082-4416-96B3-77EEFC49D2F2}"/>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5A0F7737-00F4-1BA9-E1B9-55EBDC17D87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5FA02380-153D-0182-CB23-9994AD716CE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3303809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667165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248305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CF78AE2D-627B-C352-5BC0-188634A1B39B}"/>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0942A51B-8FB6-C35A-6C4A-52FB4695265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DA802C76-3A80-02BB-362B-3929207382A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5748183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2F964331-3FE8-D2B7-3328-5B4C15E59223}"/>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AF8993E9-4559-24BE-054C-40DF0E1D0E8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6D2233D4-B035-07B1-FFF5-DA5A49F537D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7765591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8124313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txBody>
          <a:bodyPr/>
          <a:lstStyle/>
          <a:p>
            <a:endParaRPr lang="en-IN"/>
          </a:p>
        </p:txBody>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17365D"/>
              </a:buClr>
              <a:buSzPts val="2800"/>
              <a:buFont typeface="Verdana"/>
              <a:buNone/>
            </a:pPr>
            <a:r>
              <a:rPr lang="en-GB" sz="2400" dirty="0">
                <a:solidFill>
                  <a:schemeClr val="tx1"/>
                </a:solidFill>
                <a:latin typeface="Cambria" panose="02040503050406030204" pitchFamily="18" charset="0"/>
                <a:ea typeface="Cambria" panose="02040503050406030204" pitchFamily="18" charset="0"/>
              </a:rPr>
              <a:t>PROJECT TITLE:</a:t>
            </a:r>
            <a:br>
              <a:rPr lang="en-GB" sz="2400" dirty="0">
                <a:solidFill>
                  <a:schemeClr val="tx1"/>
                </a:solidFill>
                <a:latin typeface="Cambria" panose="02040503050406030204" pitchFamily="18" charset="0"/>
                <a:ea typeface="Cambria" panose="02040503050406030204" pitchFamily="18" charset="0"/>
              </a:rPr>
            </a:br>
            <a:r>
              <a:rPr lang="en-GB" sz="2400" dirty="0">
                <a:solidFill>
                  <a:schemeClr val="tx1"/>
                </a:solidFill>
                <a:latin typeface="Cambria" panose="02040503050406030204" pitchFamily="18" charset="0"/>
                <a:ea typeface="Cambria" panose="02040503050406030204" pitchFamily="18" charset="0"/>
              </a:rPr>
              <a:t>Enhancing farmer productivity through innovative technology solutions</a:t>
            </a:r>
            <a:endParaRPr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 </a:t>
            </a:r>
            <a:r>
              <a:rPr lang="en-GB" sz="1800" dirty="0">
                <a:solidFill>
                  <a:schemeClr val="tx1">
                    <a:lumMod val="85000"/>
                    <a:lumOff val="15000"/>
                  </a:schemeClr>
                </a:solidFill>
                <a:latin typeface="Cambria" panose="02040503050406030204" pitchFamily="18" charset="0"/>
                <a:ea typeface="Cambria" panose="02040503050406030204" pitchFamily="18" charset="0"/>
              </a:rPr>
              <a:t>CSE_124</a:t>
            </a:r>
            <a:endParaRPr sz="1800" dirty="0">
              <a:solidFill>
                <a:schemeClr val="tx1">
                  <a:lumMod val="85000"/>
                  <a:lumOff val="15000"/>
                </a:schemeClr>
              </a:solidFill>
              <a:latin typeface="Cambria" panose="02040503050406030204" pitchFamily="18" charset="0"/>
              <a:ea typeface="Cambria" panose="020405030504060302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lang="en-GB" sz="1800" dirty="0">
              <a:latin typeface="Cambria" panose="02040503050406030204" pitchFamily="18" charset="0"/>
              <a:ea typeface="Cambria" panose="02040503050406030204" pitchFamily="18" charset="0"/>
            </a:endParaRPr>
          </a:p>
          <a:p>
            <a:pPr marL="0" marR="0" lvl="0" indent="0" algn="ctr" rtl="0">
              <a:spcBef>
                <a:spcPts val="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Ms. Radhika Sreedharan</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Asst. 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2762609451"/>
              </p:ext>
            </p:extLst>
          </p:nvPr>
        </p:nvGraphicFramePr>
        <p:xfrm>
          <a:off x="553347" y="2721840"/>
          <a:ext cx="5418675" cy="2194620"/>
        </p:xfrm>
        <a:graphic>
          <a:graphicData uri="http://schemas.openxmlformats.org/drawingml/2006/table">
            <a:tbl>
              <a:tblPr firstRow="1" bandRow="1">
                <a:noFill/>
                <a:tableStyleId>{57690726-49DA-4552-BDEB-330DD8EA8BD9}</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306243">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06243">
                <a:tc>
                  <a:txBody>
                    <a:bodyPr/>
                    <a:lstStyle/>
                    <a:p>
                      <a:pPr marL="0" marR="0" lvl="0" indent="0" algn="ctr" rtl="0">
                        <a:spcBef>
                          <a:spcPts val="0"/>
                        </a:spcBef>
                        <a:spcAft>
                          <a:spcPts val="0"/>
                        </a:spcAft>
                        <a:buFont typeface="+mj-lt"/>
                        <a:buNone/>
                      </a:pPr>
                      <a:r>
                        <a:rPr lang="en-IN" sz="1800" u="none" strike="noStrike" cap="none" dirty="0"/>
                        <a:t>20221CSE0301</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u="none" strike="noStrike" cap="none" dirty="0"/>
                        <a:t>CHARAN J</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06243">
                <a:tc>
                  <a:txBody>
                    <a:bodyPr/>
                    <a:lstStyle/>
                    <a:p>
                      <a:pPr marL="0" marR="0" lvl="0" indent="0" algn="ctr" rtl="0">
                        <a:spcBef>
                          <a:spcPts val="0"/>
                        </a:spcBef>
                        <a:spcAft>
                          <a:spcPts val="0"/>
                        </a:spcAft>
                        <a:buNone/>
                      </a:pPr>
                      <a:r>
                        <a:rPr lang="en-IN" sz="1800" u="none" strike="noStrike" cap="none" dirty="0"/>
                        <a:t>20221CSE0304</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u="none" strike="noStrike" cap="none" dirty="0"/>
                        <a:t>NAGENDRA BABU R</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06243">
                <a:tc>
                  <a:txBody>
                    <a:bodyPr/>
                    <a:lstStyle/>
                    <a:p>
                      <a:pPr marL="0" marR="0" lvl="0" indent="0" algn="ctr" rtl="0">
                        <a:spcBef>
                          <a:spcPts val="0"/>
                        </a:spcBef>
                        <a:spcAft>
                          <a:spcPts val="0"/>
                        </a:spcAft>
                        <a:buNone/>
                      </a:pPr>
                      <a:r>
                        <a:rPr lang="en-IN" sz="1800" u="none" strike="noStrike" cap="none" dirty="0"/>
                        <a:t>20221CSE0752</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u="none" strike="noStrike" cap="none" dirty="0"/>
                        <a:t>VISHWAS Y S</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a:solidFill>
                  <a:srgbClr val="17365D"/>
                </a:solidFill>
                <a:latin typeface="Cambria" panose="02040503050406030204" pitchFamily="18" charset="0"/>
                <a:ea typeface="Cambria" panose="02040503050406030204" pitchFamily="18" charset="0"/>
                <a:cs typeface="Verdana"/>
                <a:sym typeface="Verdana"/>
              </a:rPr>
              <a:t>Review-4</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IN" sz="1800" b="1" i="0" u="none" strike="noStrike" cap="none" dirty="0">
                <a:solidFill>
                  <a:schemeClr val="tx1">
                    <a:lumMod val="85000"/>
                    <a:lumOff val="15000"/>
                  </a:schemeClr>
                </a:solidFill>
                <a:latin typeface="Cambria" panose="02040503050406030204" pitchFamily="18" charset="0"/>
                <a:ea typeface="Cambria" panose="02040503050406030204" pitchFamily="18" charset="0"/>
                <a:cs typeface="Verdana"/>
                <a:sym typeface="Verdana"/>
              </a:rPr>
              <a:t>B.Tech(CSE)</a:t>
            </a:r>
            <a:endParaRPr lang="en-US" sz="1800" b="1" i="0" u="none" strike="noStrike" cap="none" dirty="0">
              <a:solidFill>
                <a:schemeClr val="tx1">
                  <a:lumMod val="85000"/>
                  <a:lumOff val="15000"/>
                </a:schemeClr>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HoD</a:t>
            </a:r>
            <a:r>
              <a:rPr lang="en-US" sz="1800" dirty="0">
                <a:solidFill>
                  <a:schemeClr val="accent1"/>
                </a:solidFill>
                <a:latin typeface="Cambria" panose="02040503050406030204" pitchFamily="18" charset="0"/>
                <a:ea typeface="Cambria" panose="02040503050406030204" pitchFamily="18" charset="0"/>
                <a:cs typeface="Verdana"/>
                <a:sym typeface="Verdana"/>
              </a:rPr>
              <a:t>:  </a:t>
            </a:r>
            <a:r>
              <a:rPr lang="en-IN" sz="1800" b="1" dirty="0"/>
              <a:t>Dr. Blessed Prince</a:t>
            </a:r>
            <a:endParaRPr lang="en-US" sz="1800" b="1" dirty="0">
              <a:solidFill>
                <a:srgbClr val="FF0000"/>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IN" sz="1800" b="1" dirty="0">
                <a:solidFill>
                  <a:schemeClr val="accent1"/>
                </a:solidFill>
                <a:latin typeface="Cambria" panose="02040503050406030204" pitchFamily="18" charset="0"/>
                <a:ea typeface="Cambria" panose="02040503050406030204" pitchFamily="18" charset="0"/>
                <a:cs typeface="Verdana"/>
                <a:sym typeface="Verdana"/>
              </a:rPr>
              <a:t> </a:t>
            </a:r>
            <a:r>
              <a:rPr lang="en-IN" sz="1800" b="1" dirty="0">
                <a:solidFill>
                  <a:schemeClr val="tx1"/>
                </a:solidFill>
                <a:latin typeface="Cambria" panose="02040503050406030204" pitchFamily="18" charset="0"/>
                <a:ea typeface="Cambria" panose="02040503050406030204" pitchFamily="18" charset="0"/>
                <a:cs typeface="Verdana"/>
                <a:sym typeface="Verdana"/>
              </a:rPr>
              <a:t>Muthuraju V</a:t>
            </a:r>
            <a:r>
              <a:rPr lang="en-IN" sz="1800" b="1" dirty="0">
                <a:solidFill>
                  <a:schemeClr val="tx1"/>
                </a:solidFill>
              </a:rPr>
              <a:t> </a:t>
            </a:r>
            <a:endParaRPr lang="en-US" sz="1800" b="1" dirty="0">
              <a:solidFill>
                <a:schemeClr val="tx1"/>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Sampath A K , Dr. Geetha A </a:t>
            </a:r>
            <a:endParaRPr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Problem Statement Number: </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fontScale="70000" lnSpcReduction="20000"/>
          </a:bodyPr>
          <a:lstStyle/>
          <a:p>
            <a:pPr marL="342900" lvl="0" indent="-190500" algn="just">
              <a:spcBef>
                <a:spcPts val="0"/>
              </a:spcBef>
              <a:buNone/>
            </a:pPr>
            <a:r>
              <a:rPr lang="en-US" b="1" dirty="0">
                <a:latin typeface="Cambria" panose="02040503050406030204" pitchFamily="18" charset="0"/>
                <a:ea typeface="Cambria" panose="02040503050406030204" pitchFamily="18" charset="0"/>
              </a:rPr>
              <a:t>Organization: </a:t>
            </a:r>
            <a:r>
              <a:rPr lang="en-IN" dirty="0"/>
              <a:t>Ministry of Agriculture &amp; Farmers Welfare(MoA&amp;FW) </a:t>
            </a:r>
            <a:endParaRPr lang="en-US" dirty="0">
              <a:latin typeface="Cambria" panose="02040503050406030204" pitchFamily="18" charset="0"/>
              <a:ea typeface="Cambria" panose="02040503050406030204" pitchFamily="18" charset="0"/>
            </a:endParaRPr>
          </a:p>
          <a:p>
            <a:pPr marL="342900" lvl="0" indent="-190500" algn="just">
              <a:lnSpc>
                <a:spcPct val="200000"/>
              </a:lnSpc>
              <a:spcBef>
                <a:spcPts val="0"/>
              </a:spcBef>
              <a:buNone/>
            </a:pPr>
            <a:r>
              <a:rPr lang="en-US" b="1" dirty="0">
                <a:latin typeface="Cambria" panose="02040503050406030204" pitchFamily="18" charset="0"/>
                <a:ea typeface="Cambria" panose="02040503050406030204" pitchFamily="18" charset="0"/>
              </a:rPr>
              <a:t>Category :   Software </a:t>
            </a:r>
          </a:p>
          <a:p>
            <a:pPr marL="342900" lvl="0" indent="-190500" algn="just">
              <a:lnSpc>
                <a:spcPct val="200000"/>
              </a:lnSpc>
              <a:spcBef>
                <a:spcPts val="0"/>
              </a:spcBef>
              <a:buNone/>
            </a:pPr>
            <a:r>
              <a:rPr lang="en-US" b="1" dirty="0">
                <a:latin typeface="Cambria" panose="02040503050406030204" pitchFamily="18" charset="0"/>
                <a:ea typeface="Cambria" panose="02040503050406030204" pitchFamily="18" charset="0"/>
              </a:rPr>
              <a:t>Problem Description</a:t>
            </a:r>
            <a:r>
              <a:rPr lang="en-US" sz="2200" b="1" dirty="0">
                <a:latin typeface="Cambria" panose="02040503050406030204" pitchFamily="18" charset="0"/>
                <a:ea typeface="Cambria" panose="02040503050406030204" pitchFamily="18" charset="0"/>
              </a:rPr>
              <a:t>: </a:t>
            </a:r>
            <a:r>
              <a:rPr lang="en-US" sz="2300" dirty="0">
                <a:latin typeface="Cambria" panose="02040503050406030204" pitchFamily="18" charset="0"/>
                <a:ea typeface="Cambria" panose="02040503050406030204" pitchFamily="18" charset="0"/>
              </a:rPr>
              <a:t>The </a:t>
            </a:r>
            <a:r>
              <a:rPr lang="en-US" sz="2000" dirty="0"/>
              <a:t>system aims to improve farmer productivity by providing technology-based decision support for agriculture. It uses data such as soil health, weather conditions, and crop information to generate smart recommendations. The solution helps farmers increase yield, reduce costs, and adopt sustainable farming practices.</a:t>
            </a:r>
          </a:p>
          <a:p>
            <a:pPr marL="342900" lvl="0" indent="-190500" algn="just">
              <a:lnSpc>
                <a:spcPct val="200000"/>
              </a:lnSpc>
              <a:spcBef>
                <a:spcPts val="0"/>
              </a:spcBef>
              <a:buNone/>
            </a:pPr>
            <a:r>
              <a:rPr lang="en-US" sz="2300" dirty="0" err="1">
                <a:latin typeface="Cambria" panose="02040503050406030204" pitchFamily="18" charset="0"/>
                <a:ea typeface="Cambria" panose="02040503050406030204" pitchFamily="18" charset="0"/>
              </a:rPr>
              <a:t>i</a:t>
            </a:r>
            <a:r>
              <a:rPr lang="en-US" sz="2300" dirty="0">
                <a:latin typeface="Cambria" panose="02040503050406030204" pitchFamily="18" charset="0"/>
                <a:ea typeface="Cambria" panose="02040503050406030204" pitchFamily="18" charset="0"/>
              </a:rPr>
              <a:t>. </a:t>
            </a:r>
            <a:r>
              <a:rPr lang="en-US" sz="2000" dirty="0"/>
              <a:t>Suggests suitable crops based on soil, season, and climate</a:t>
            </a:r>
            <a:r>
              <a:rPr lang="en-US" sz="2300" dirty="0">
                <a:latin typeface="Cambria" panose="02040503050406030204" pitchFamily="18" charset="0"/>
                <a:ea typeface="Cambria" panose="02040503050406030204" pitchFamily="18" charset="0"/>
              </a:rPr>
              <a:t>.</a:t>
            </a:r>
          </a:p>
          <a:p>
            <a:pPr marL="342900" lvl="0" indent="-190500" algn="just">
              <a:lnSpc>
                <a:spcPct val="200000"/>
              </a:lnSpc>
              <a:spcBef>
                <a:spcPts val="0"/>
              </a:spcBef>
              <a:buNone/>
            </a:pPr>
            <a:r>
              <a:rPr lang="en-US" sz="2300" dirty="0">
                <a:latin typeface="Cambria" panose="02040503050406030204" pitchFamily="18" charset="0"/>
                <a:ea typeface="Cambria" panose="02040503050406030204" pitchFamily="18" charset="0"/>
              </a:rPr>
              <a:t>ii. </a:t>
            </a:r>
            <a:r>
              <a:rPr lang="en-US" sz="2000" dirty="0"/>
              <a:t>Provides irrigation and fertilizer guidance to save water and improve yield.</a:t>
            </a:r>
            <a:endParaRPr lang="en-US" sz="2300" dirty="0">
              <a:latin typeface="Cambria" panose="02040503050406030204" pitchFamily="18" charset="0"/>
              <a:ea typeface="Cambria" panose="02040503050406030204" pitchFamily="18" charset="0"/>
            </a:endParaRPr>
          </a:p>
          <a:p>
            <a:pPr marL="342900" lvl="0" indent="-190500" algn="just">
              <a:lnSpc>
                <a:spcPct val="200000"/>
              </a:lnSpc>
              <a:spcBef>
                <a:spcPts val="0"/>
              </a:spcBef>
              <a:buNone/>
            </a:pPr>
            <a:r>
              <a:rPr lang="en-US" sz="2300" dirty="0">
                <a:latin typeface="Cambria" panose="02040503050406030204" pitchFamily="18" charset="0"/>
                <a:ea typeface="Cambria" panose="02040503050406030204" pitchFamily="18" charset="0"/>
              </a:rPr>
              <a:t>iii.</a:t>
            </a:r>
            <a:r>
              <a:rPr lang="en-US" sz="2000" dirty="0"/>
              <a:t> Gives pest, disease, and weather alerts for timely action.</a:t>
            </a:r>
            <a:endParaRPr lang="en-US" sz="2300" dirty="0">
              <a:latin typeface="Cambria" panose="02040503050406030204" pitchFamily="18" charset="0"/>
              <a:ea typeface="Cambria" panose="02040503050406030204" pitchFamily="18" charset="0"/>
            </a:endParaRPr>
          </a:p>
          <a:p>
            <a:pPr marL="342900" indent="-190500" algn="just">
              <a:lnSpc>
                <a:spcPct val="200000"/>
              </a:lnSpc>
              <a:spcBef>
                <a:spcPts val="0"/>
              </a:spcBef>
              <a:buNone/>
            </a:pPr>
            <a:r>
              <a:rPr lang="en-US" sz="2300" dirty="0">
                <a:latin typeface="Cambria" panose="02040503050406030204" pitchFamily="18" charset="0"/>
                <a:ea typeface="Cambria" panose="02040503050406030204" pitchFamily="18" charset="0"/>
              </a:rPr>
              <a:t>iv. </a:t>
            </a:r>
            <a:r>
              <a:rPr lang="en-US" sz="2000" dirty="0"/>
              <a:t>Estimates crop yield and overall farm productivity.</a:t>
            </a:r>
            <a:endParaRPr lang="en-US" sz="2300" dirty="0">
              <a:latin typeface="Cambria" panose="02040503050406030204" pitchFamily="18" charset="0"/>
              <a:ea typeface="Cambria" panose="02040503050406030204" pitchFamily="18" charset="0"/>
            </a:endParaRPr>
          </a:p>
          <a:p>
            <a:pPr marL="342900" indent="-190500" algn="just">
              <a:lnSpc>
                <a:spcPct val="200000"/>
              </a:lnSpc>
              <a:spcBef>
                <a:spcPts val="0"/>
              </a:spcBef>
              <a:buNone/>
            </a:pPr>
            <a:r>
              <a:rPr lang="en-US" sz="2300" dirty="0">
                <a:latin typeface="Cambria" panose="02040503050406030204" pitchFamily="18" charset="0"/>
                <a:ea typeface="Cambria" panose="02040503050406030204" pitchFamily="18" charset="0"/>
              </a:rPr>
              <a:t>v. </a:t>
            </a:r>
            <a:r>
              <a:rPr lang="en-US" sz="2000" dirty="0"/>
              <a:t>Shows market prices and modern farming methods to increase farmer income.</a:t>
            </a:r>
          </a:p>
          <a:p>
            <a:pPr marL="342900" lvl="0" indent="-190500" algn="just">
              <a:lnSpc>
                <a:spcPct val="200000"/>
              </a:lnSpc>
              <a:spcBef>
                <a:spcPts val="0"/>
              </a:spcBef>
              <a:buNone/>
            </a:pPr>
            <a:endParaRPr lang="en-US" sz="23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143451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1466273"/>
            <a:ext cx="10668000" cy="3924299"/>
          </a:xfrm>
          <a:prstGeom prst="rect">
            <a:avLst/>
          </a:prstGeom>
          <a:noFill/>
          <a:ln>
            <a:noFill/>
          </a:ln>
        </p:spPr>
        <p:txBody>
          <a:bodyPr spcFirstLastPara="1" wrap="square" lIns="91425" tIns="45700" rIns="91425" bIns="45700" anchor="t" anchorCtr="0">
            <a:normAutofit fontScale="70000" lnSpcReduction="20000"/>
          </a:bodyPr>
          <a:lstStyle/>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Problem Statement</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Objectives</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Background and Related work for title Selection</a:t>
            </a: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Analysis of Problem Statement</a:t>
            </a: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Innovation or Novel Contributions</a:t>
            </a:r>
            <a:endParaRPr lang="en-US" sz="3200" dirty="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Git-hub Link</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Timeline of the Project</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References</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 (continuation)..</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1466273"/>
            <a:ext cx="10668000" cy="3924299"/>
          </a:xfrm>
          <a:prstGeom prst="rect">
            <a:avLst/>
          </a:prstGeom>
          <a:noFill/>
          <a:ln>
            <a:noFill/>
          </a:ln>
        </p:spPr>
        <p:txBody>
          <a:bodyPr spcFirstLastPara="1" wrap="square" lIns="91425" tIns="45700" rIns="91425" bIns="45700" anchor="t" anchorCtr="0">
            <a:normAutofit fontScale="77500" lnSpcReduction="20000"/>
          </a:bodyPr>
          <a:lstStyle/>
          <a:p>
            <a:pPr marL="495300" indent="-342900" algn="just">
              <a:lnSpc>
                <a:spcPct val="200000"/>
              </a:lnSpc>
              <a:spcBef>
                <a:spcPts val="0"/>
              </a:spcBef>
              <a:buFont typeface="Arial" panose="020B0604020202020204" pitchFamily="34" charset="0"/>
              <a:buChar char="•"/>
            </a:pPr>
            <a:r>
              <a:rPr lang="en-US" b="1" dirty="0">
                <a:latin typeface="Cambria" panose="02040503050406030204" pitchFamily="18" charset="0"/>
                <a:ea typeface="Cambria" panose="02040503050406030204" pitchFamily="18" charset="0"/>
              </a:rPr>
              <a:t>Problem Statement:</a:t>
            </a:r>
          </a:p>
          <a:p>
            <a:pPr marL="495300" indent="-342900" algn="just">
              <a:lnSpc>
                <a:spcPct val="200000"/>
              </a:lnSpc>
              <a:spcBef>
                <a:spcPts val="0"/>
              </a:spcBef>
              <a:buFont typeface="Wingdings" panose="05000000000000000000" pitchFamily="2" charset="2"/>
              <a:buChar char="Ø"/>
            </a:pPr>
            <a:r>
              <a:rPr lang="en-US" dirty="0">
                <a:latin typeface="Cambria" panose="02040503050406030204" pitchFamily="18" charset="0"/>
                <a:ea typeface="Cambria" panose="02040503050406030204" pitchFamily="18" charset="0"/>
              </a:rPr>
              <a:t> </a:t>
            </a:r>
            <a:r>
              <a:rPr lang="en-US" sz="2600" dirty="0">
                <a:latin typeface="Times New Roman" panose="02020603050405020304" pitchFamily="18" charset="0"/>
                <a:cs typeface="Times New Roman" panose="02020603050405020304" pitchFamily="18" charset="0"/>
              </a:rPr>
              <a:t>Farmers face challenges in making timely and accurate decisions related to crop selection, irrigation, and pest management due to lack of reliable information.</a:t>
            </a:r>
            <a:endParaRPr lang="en-US" sz="2600" dirty="0">
              <a:latin typeface="Times New Roman" panose="02020603050405020304" pitchFamily="18" charset="0"/>
              <a:ea typeface="Cambria" panose="02040503050406030204" pitchFamily="18" charset="0"/>
              <a:cs typeface="Times New Roman" panose="02020603050405020304" pitchFamily="18" charset="0"/>
            </a:endParaRPr>
          </a:p>
          <a:p>
            <a:pPr marL="495300" indent="-342900" algn="just">
              <a:lnSpc>
                <a:spcPct val="200000"/>
              </a:lnSpc>
              <a:spcBef>
                <a:spcPts val="0"/>
              </a:spcBef>
              <a:buFont typeface="Wingdings" panose="05000000000000000000" pitchFamily="2" charset="2"/>
              <a:buChar char="Ø"/>
            </a:pPr>
            <a:r>
              <a:rPr lang="en-US" sz="2600" dirty="0">
                <a:latin typeface="Times New Roman" panose="02020603050405020304" pitchFamily="18" charset="0"/>
                <a:cs typeface="Times New Roman" panose="02020603050405020304" pitchFamily="18" charset="0"/>
              </a:rPr>
              <a:t>Traditional farming practices rely on experience and guesswork, leading to low productivity, higher input costs, and crop losses</a:t>
            </a:r>
            <a:r>
              <a:rPr lang="en-US" sz="2600" dirty="0">
                <a:latin typeface="Times New Roman" panose="02020603050405020304" pitchFamily="18" charset="0"/>
                <a:ea typeface="Cambria" panose="02040503050406030204" pitchFamily="18" charset="0"/>
                <a:cs typeface="Times New Roman" panose="02020603050405020304" pitchFamily="18" charset="0"/>
              </a:rPr>
              <a:t>.</a:t>
            </a:r>
          </a:p>
          <a:p>
            <a:pPr marL="495300" lvl="0" indent="-342900" algn="just">
              <a:lnSpc>
                <a:spcPct val="200000"/>
              </a:lnSpc>
              <a:spcBef>
                <a:spcPts val="0"/>
              </a:spcBef>
              <a:buFont typeface="Wingdings" panose="05000000000000000000" pitchFamily="2" charset="2"/>
              <a:buChar char="Ø"/>
            </a:pPr>
            <a:r>
              <a:rPr lang="en-US" sz="2600" dirty="0">
                <a:latin typeface="Times New Roman" panose="02020603050405020304" pitchFamily="18" charset="0"/>
                <a:ea typeface="Cambria" panose="02040503050406030204" pitchFamily="18" charset="0"/>
                <a:cs typeface="Times New Roman" panose="02020603050405020304" pitchFamily="18" charset="0"/>
              </a:rPr>
              <a:t>A data-driven, AI-enabled system can provide </a:t>
            </a:r>
            <a:r>
              <a:rPr lang="en-US" sz="2600" dirty="0">
                <a:latin typeface="Times New Roman" panose="02020603050405020304" pitchFamily="18" charset="0"/>
                <a:cs typeface="Times New Roman" panose="02020603050405020304" pitchFamily="18" charset="0"/>
              </a:rPr>
              <a:t>smart recommendations, improve farm efficiency, and increase farmer income sustainably.</a:t>
            </a:r>
            <a:endParaRPr lang="en-US" sz="2600" dirty="0">
              <a:latin typeface="Times New Roman" panose="02020603050405020304" pitchFamily="18" charset="0"/>
              <a:ea typeface="Cambria" panose="02040503050406030204" pitchFamily="18" charset="0"/>
              <a:cs typeface="Times New Roman" panose="020206030504050203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6379795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8A85E927-59E8-865E-AD0F-659FC467A64A}"/>
            </a:ext>
          </a:extLst>
        </p:cNvPr>
        <p:cNvGrpSpPr/>
        <p:nvPr/>
      </p:nvGrpSpPr>
      <p:grpSpPr>
        <a:xfrm>
          <a:off x="0" y="0"/>
          <a:ext cx="0" cy="0"/>
          <a:chOff x="0" y="0"/>
          <a:chExt cx="0" cy="0"/>
        </a:xfrm>
      </p:grpSpPr>
      <p:sp>
        <p:nvSpPr>
          <p:cNvPr id="96" name="Google Shape;96;p14">
            <a:extLst>
              <a:ext uri="{FF2B5EF4-FFF2-40B4-BE49-F238E27FC236}">
                <a16:creationId xmlns:a16="http://schemas.microsoft.com/office/drawing/2014/main" id="{CA7FB6D4-188F-35D0-BDF1-2E5BDC0351EF}"/>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 (continuation)..</a:t>
            </a:r>
            <a:endParaRPr dirty="0">
              <a:latin typeface="Cambria" panose="02040503050406030204" pitchFamily="18" charset="0"/>
              <a:ea typeface="Cambria" panose="02040503050406030204" pitchFamily="18" charset="0"/>
            </a:endParaRPr>
          </a:p>
        </p:txBody>
      </p:sp>
      <p:sp>
        <p:nvSpPr>
          <p:cNvPr id="97" name="Google Shape;97;p14">
            <a:extLst>
              <a:ext uri="{FF2B5EF4-FFF2-40B4-BE49-F238E27FC236}">
                <a16:creationId xmlns:a16="http://schemas.microsoft.com/office/drawing/2014/main" id="{64809FDD-ACE7-8047-2169-85EA1B351A6F}"/>
              </a:ext>
            </a:extLst>
          </p:cNvPr>
          <p:cNvSpPr txBox="1">
            <a:spLocks noGrp="1"/>
          </p:cNvSpPr>
          <p:nvPr>
            <p:ph type="body" idx="1"/>
          </p:nvPr>
        </p:nvSpPr>
        <p:spPr>
          <a:xfrm>
            <a:off x="655782" y="1466273"/>
            <a:ext cx="10668000" cy="3924299"/>
          </a:xfrm>
          <a:prstGeom prst="rect">
            <a:avLst/>
          </a:prstGeom>
          <a:noFill/>
          <a:ln>
            <a:noFill/>
          </a:ln>
        </p:spPr>
        <p:txBody>
          <a:bodyPr spcFirstLastPara="1" wrap="square" lIns="91425" tIns="45700" rIns="91425" bIns="45700" anchor="t" anchorCtr="0">
            <a:normAutofit/>
          </a:bodyPr>
          <a:lstStyle/>
          <a:p>
            <a:pPr marL="495300" indent="-342900" algn="just">
              <a:lnSpc>
                <a:spcPct val="200000"/>
              </a:lnSpc>
              <a:spcBef>
                <a:spcPts val="0"/>
              </a:spcBef>
              <a:buFont typeface="Arial" panose="020B0604020202020204" pitchFamily="34" charset="0"/>
              <a:buChar char="•"/>
            </a:pPr>
            <a:r>
              <a:rPr lang="en-US" b="1" dirty="0">
                <a:latin typeface="Cambria" panose="02040503050406030204" pitchFamily="18" charset="0"/>
                <a:ea typeface="Cambria" panose="02040503050406030204" pitchFamily="18" charset="0"/>
              </a:rPr>
              <a:t>Objectives:</a:t>
            </a:r>
          </a:p>
          <a:p>
            <a:pPr marL="495300" lvl="0" indent="-342900" algn="just">
              <a:lnSpc>
                <a:spcPct val="200000"/>
              </a:lnSpc>
              <a:spcBef>
                <a:spcPts val="0"/>
              </a:spcBef>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help farmers choose the right crop for their land and season.</a:t>
            </a:r>
          </a:p>
          <a:p>
            <a:pPr marL="495300" lvl="0" indent="-342900" algn="just">
              <a:lnSpc>
                <a:spcPct val="200000"/>
              </a:lnSpc>
              <a:spcBef>
                <a:spcPts val="0"/>
              </a:spcBef>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guide farmers on proper irrigation and fertilizer usage.</a:t>
            </a:r>
          </a:p>
          <a:p>
            <a:pPr marL="495300" lvl="0" indent="-342900" algn="just">
              <a:lnSpc>
                <a:spcPct val="200000"/>
              </a:lnSpc>
              <a:spcBef>
                <a:spcPts val="0"/>
              </a:spcBef>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provide weather, pest, and disease alerts on time.</a:t>
            </a:r>
          </a:p>
          <a:p>
            <a:pPr marL="495300" lvl="0" indent="-342900" algn="just">
              <a:lnSpc>
                <a:spcPct val="200000"/>
              </a:lnSpc>
              <a:spcBef>
                <a:spcPts val="0"/>
              </a:spcBef>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increase crop yield, reduce costs, and improve farmer income.</a:t>
            </a:r>
            <a:endParaRPr lang="en-US" dirty="0">
              <a:latin typeface="Times New Roman" panose="02020603050405020304" pitchFamily="18" charset="0"/>
              <a:ea typeface="Cambria" panose="02040503050406030204" pitchFamily="18" charset="0"/>
              <a:cs typeface="Times New Roman" panose="020206030504050203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6363846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163986FF-5597-A87E-2289-AE760C61C072}"/>
            </a:ext>
          </a:extLst>
        </p:cNvPr>
        <p:cNvGrpSpPr/>
        <p:nvPr/>
      </p:nvGrpSpPr>
      <p:grpSpPr>
        <a:xfrm>
          <a:off x="0" y="0"/>
          <a:ext cx="0" cy="0"/>
          <a:chOff x="0" y="0"/>
          <a:chExt cx="0" cy="0"/>
        </a:xfrm>
      </p:grpSpPr>
      <p:sp>
        <p:nvSpPr>
          <p:cNvPr id="96" name="Google Shape;96;p14">
            <a:extLst>
              <a:ext uri="{FF2B5EF4-FFF2-40B4-BE49-F238E27FC236}">
                <a16:creationId xmlns:a16="http://schemas.microsoft.com/office/drawing/2014/main" id="{2EEBD4B6-527C-F282-43BD-2D104E143BE7}"/>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 (continuation)..</a:t>
            </a:r>
            <a:endParaRPr dirty="0">
              <a:latin typeface="Cambria" panose="02040503050406030204" pitchFamily="18" charset="0"/>
              <a:ea typeface="Cambria" panose="02040503050406030204" pitchFamily="18" charset="0"/>
            </a:endParaRPr>
          </a:p>
        </p:txBody>
      </p:sp>
      <p:sp>
        <p:nvSpPr>
          <p:cNvPr id="97" name="Google Shape;97;p14">
            <a:extLst>
              <a:ext uri="{FF2B5EF4-FFF2-40B4-BE49-F238E27FC236}">
                <a16:creationId xmlns:a16="http://schemas.microsoft.com/office/drawing/2014/main" id="{0FADDAB2-11DA-B01B-A3AC-E8D721C60F3A}"/>
              </a:ext>
            </a:extLst>
          </p:cNvPr>
          <p:cNvSpPr txBox="1">
            <a:spLocks noGrp="1"/>
          </p:cNvSpPr>
          <p:nvPr>
            <p:ph type="body" idx="1"/>
          </p:nvPr>
        </p:nvSpPr>
        <p:spPr>
          <a:xfrm>
            <a:off x="655782" y="1466273"/>
            <a:ext cx="10668000" cy="3924299"/>
          </a:xfrm>
          <a:prstGeom prst="rect">
            <a:avLst/>
          </a:prstGeom>
          <a:noFill/>
          <a:ln>
            <a:noFill/>
          </a:ln>
        </p:spPr>
        <p:txBody>
          <a:bodyPr spcFirstLastPara="1" wrap="square" lIns="91425" tIns="45700" rIns="91425" bIns="45700" anchor="t" anchorCtr="0">
            <a:normAutofit/>
          </a:bodyPr>
          <a:lstStyle/>
          <a:p>
            <a:pPr marL="495300" indent="-342900" algn="just">
              <a:lnSpc>
                <a:spcPct val="200000"/>
              </a:lnSpc>
              <a:spcBef>
                <a:spcPts val="0"/>
              </a:spcBef>
              <a:buFont typeface="Arial" panose="020B0604020202020204" pitchFamily="34" charset="0"/>
              <a:buChar char="•"/>
            </a:pPr>
            <a:r>
              <a:rPr lang="en-US" b="1" dirty="0">
                <a:latin typeface="Cambria" panose="02040503050406030204" pitchFamily="18" charset="0"/>
                <a:ea typeface="Cambria" panose="02040503050406030204" pitchFamily="18" charset="0"/>
              </a:rPr>
              <a:t>Background and Related work for title Selection :</a:t>
            </a:r>
          </a:p>
          <a:p>
            <a:pPr marL="495300" lvl="0" indent="-342900" algn="just">
              <a:lnSpc>
                <a:spcPct val="200000"/>
              </a:lnSpc>
              <a:spcBef>
                <a:spcPts val="0"/>
              </a:spcBef>
              <a:buFont typeface="Wingdings" panose="05000000000000000000" pitchFamily="2" charset="2"/>
              <a:buChar char="Ø"/>
            </a:pPr>
            <a:r>
              <a:rPr lang="en-US" dirty="0">
                <a:latin typeface="Cambria" panose="02040503050406030204" pitchFamily="18" charset="0"/>
                <a:ea typeface="Cambria" panose="02040503050406030204" pitchFamily="18" charset="0"/>
              </a:rPr>
              <a:t> </a:t>
            </a:r>
            <a:r>
              <a:rPr lang="en-US" dirty="0">
                <a:latin typeface="Times New Roman" panose="02020603050405020304" pitchFamily="18" charset="0"/>
                <a:cs typeface="Times New Roman" panose="02020603050405020304" pitchFamily="18" charset="0"/>
              </a:rPr>
              <a:t>Farming depends heavily on weather, soil, and water availability.</a:t>
            </a:r>
          </a:p>
          <a:p>
            <a:pPr marL="495300" lvl="0" indent="-342900" algn="just">
              <a:lnSpc>
                <a:spcPct val="200000"/>
              </a:lnSpc>
              <a:spcBef>
                <a:spcPts val="0"/>
              </a:spcBef>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Most farmers still use traditional methods based on experience.</a:t>
            </a:r>
          </a:p>
          <a:p>
            <a:pPr marL="495300" lvl="0" indent="-342900" algn="just">
              <a:lnSpc>
                <a:spcPct val="200000"/>
              </a:lnSpc>
              <a:spcBef>
                <a:spcPts val="0"/>
              </a:spcBef>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New technologies like mobile apps and sensors are being used in agriculture.</a:t>
            </a:r>
          </a:p>
          <a:p>
            <a:pPr marL="495300" lvl="0" indent="-342900" algn="just">
              <a:lnSpc>
                <a:spcPct val="200000"/>
              </a:lnSpc>
              <a:spcBef>
                <a:spcPts val="0"/>
              </a:spcBef>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There is a need for simple and integrated technology solutions for farmers.</a:t>
            </a:r>
            <a:endParaRPr lang="en-US" dirty="0">
              <a:latin typeface="Times New Roman" panose="02020603050405020304" pitchFamily="18" charset="0"/>
              <a:ea typeface="Cambria" panose="02040503050406030204" pitchFamily="18" charset="0"/>
              <a:cs typeface="Times New Roman" panose="020206030504050203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7778257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4038860A-660F-9E74-8D80-31C903571753}"/>
            </a:ext>
          </a:extLst>
        </p:cNvPr>
        <p:cNvGrpSpPr/>
        <p:nvPr/>
      </p:nvGrpSpPr>
      <p:grpSpPr>
        <a:xfrm>
          <a:off x="0" y="0"/>
          <a:ext cx="0" cy="0"/>
          <a:chOff x="0" y="0"/>
          <a:chExt cx="0" cy="0"/>
        </a:xfrm>
      </p:grpSpPr>
      <p:sp>
        <p:nvSpPr>
          <p:cNvPr id="96" name="Google Shape;96;p14">
            <a:extLst>
              <a:ext uri="{FF2B5EF4-FFF2-40B4-BE49-F238E27FC236}">
                <a16:creationId xmlns:a16="http://schemas.microsoft.com/office/drawing/2014/main" id="{4A575A4C-17F3-37A0-D8FB-2F9A92636EA6}"/>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 (continuation)..</a:t>
            </a:r>
            <a:endParaRPr dirty="0">
              <a:latin typeface="Cambria" panose="02040503050406030204" pitchFamily="18" charset="0"/>
              <a:ea typeface="Cambria" panose="02040503050406030204" pitchFamily="18" charset="0"/>
            </a:endParaRPr>
          </a:p>
        </p:txBody>
      </p:sp>
      <p:sp>
        <p:nvSpPr>
          <p:cNvPr id="97" name="Google Shape;97;p14">
            <a:extLst>
              <a:ext uri="{FF2B5EF4-FFF2-40B4-BE49-F238E27FC236}">
                <a16:creationId xmlns:a16="http://schemas.microsoft.com/office/drawing/2014/main" id="{D8F4C7B3-D77B-AD5A-6168-FEB363A950B9}"/>
              </a:ext>
            </a:extLst>
          </p:cNvPr>
          <p:cNvSpPr txBox="1">
            <a:spLocks noGrp="1"/>
          </p:cNvSpPr>
          <p:nvPr>
            <p:ph type="body" idx="1"/>
          </p:nvPr>
        </p:nvSpPr>
        <p:spPr>
          <a:xfrm>
            <a:off x="655782" y="1163782"/>
            <a:ext cx="10668000" cy="4675909"/>
          </a:xfrm>
          <a:prstGeom prst="rect">
            <a:avLst/>
          </a:prstGeom>
          <a:noFill/>
          <a:ln>
            <a:noFill/>
          </a:ln>
        </p:spPr>
        <p:txBody>
          <a:bodyPr spcFirstLastPara="1" wrap="square" lIns="91425" tIns="45700" rIns="91425" bIns="45700" anchor="t" anchorCtr="0">
            <a:normAutofit fontScale="40000" lnSpcReduction="20000"/>
          </a:bodyPr>
          <a:lstStyle/>
          <a:p>
            <a:pPr marL="495300" indent="-342900" algn="just">
              <a:lnSpc>
                <a:spcPct val="200000"/>
              </a:lnSpc>
              <a:spcBef>
                <a:spcPts val="0"/>
              </a:spcBef>
              <a:buFont typeface="Arial" panose="020B0604020202020204" pitchFamily="34" charset="0"/>
              <a:buChar char="•"/>
            </a:pPr>
            <a:r>
              <a:rPr lang="en-US" sz="4200" b="1" dirty="0">
                <a:latin typeface="Cambria" panose="02040503050406030204" pitchFamily="18" charset="0"/>
                <a:ea typeface="Cambria" panose="02040503050406030204" pitchFamily="18" charset="0"/>
              </a:rPr>
              <a:t>Analysis of Problem Statement:</a:t>
            </a:r>
          </a:p>
          <a:p>
            <a:pPr marL="152400" lvl="0" indent="0" algn="just">
              <a:lnSpc>
                <a:spcPct val="200000"/>
              </a:lnSpc>
              <a:spcBef>
                <a:spcPts val="0"/>
              </a:spcBef>
              <a:buNone/>
            </a:pPr>
            <a:r>
              <a:rPr lang="en-US" sz="3800" dirty="0">
                <a:latin typeface="Cambria" panose="02040503050406030204" pitchFamily="18" charset="0"/>
                <a:ea typeface="Cambria" panose="02040503050406030204" pitchFamily="18" charset="0"/>
              </a:rPr>
              <a:t> </a:t>
            </a:r>
            <a:r>
              <a:rPr lang="en-US" sz="3800" u="sng" dirty="0">
                <a:latin typeface="Cambria" panose="02040503050406030204" pitchFamily="18" charset="0"/>
                <a:ea typeface="Cambria" panose="02040503050406030204" pitchFamily="18" charset="0"/>
              </a:rPr>
              <a:t>Challenges:</a:t>
            </a:r>
          </a:p>
          <a:p>
            <a:pPr marL="495300" lvl="0" indent="-342900" algn="just">
              <a:lnSpc>
                <a:spcPct val="200000"/>
              </a:lnSpc>
              <a:spcBef>
                <a:spcPts val="0"/>
              </a:spcBef>
              <a:buFont typeface="Wingdings" panose="05000000000000000000" pitchFamily="2" charset="2"/>
              <a:buChar char="Ø"/>
            </a:pPr>
            <a:r>
              <a:rPr lang="en-US" sz="4500" dirty="0">
                <a:latin typeface="Times New Roman" panose="02020603050405020304" pitchFamily="18" charset="0"/>
                <a:cs typeface="Times New Roman" panose="02020603050405020304" pitchFamily="18" charset="0"/>
              </a:rPr>
              <a:t>Farmers have limited access to modern technology.</a:t>
            </a:r>
          </a:p>
          <a:p>
            <a:pPr marL="495300" indent="-342900" algn="just">
              <a:lnSpc>
                <a:spcPct val="200000"/>
              </a:lnSpc>
              <a:spcBef>
                <a:spcPts val="0"/>
              </a:spcBef>
              <a:buFont typeface="Wingdings" panose="05000000000000000000" pitchFamily="2" charset="2"/>
              <a:buChar char="Ø"/>
            </a:pPr>
            <a:r>
              <a:rPr lang="en-US" sz="4500" dirty="0">
                <a:latin typeface="Times New Roman" panose="02020603050405020304" pitchFamily="18" charset="0"/>
                <a:cs typeface="Times New Roman" panose="02020603050405020304" pitchFamily="18" charset="0"/>
              </a:rPr>
              <a:t>Weather changes and pests affect crops.</a:t>
            </a:r>
          </a:p>
          <a:p>
            <a:pPr marL="495300" lvl="0" indent="-342900" algn="just">
              <a:lnSpc>
                <a:spcPct val="200000"/>
              </a:lnSpc>
              <a:spcBef>
                <a:spcPts val="0"/>
              </a:spcBef>
              <a:buFont typeface="Wingdings" panose="05000000000000000000" pitchFamily="2" charset="2"/>
              <a:buChar char="Ø"/>
            </a:pPr>
            <a:r>
              <a:rPr lang="en-US" sz="4500" dirty="0">
                <a:latin typeface="Times New Roman" panose="02020603050405020304" pitchFamily="18" charset="0"/>
                <a:cs typeface="Times New Roman" panose="02020603050405020304" pitchFamily="18" charset="0"/>
              </a:rPr>
              <a:t>Lack of proper information for farming decisions.</a:t>
            </a:r>
          </a:p>
          <a:p>
            <a:pPr marL="152400" lvl="0" indent="0" algn="just">
              <a:lnSpc>
                <a:spcPct val="200000"/>
              </a:lnSpc>
              <a:spcBef>
                <a:spcPts val="0"/>
              </a:spcBef>
              <a:buNone/>
            </a:pPr>
            <a:r>
              <a:rPr lang="en-US" sz="3800" u="sng" dirty="0">
                <a:latin typeface="Cambria" panose="02040503050406030204" pitchFamily="18" charset="0"/>
                <a:ea typeface="Cambria" panose="02040503050406030204" pitchFamily="18" charset="0"/>
              </a:rPr>
              <a:t>Impact:</a:t>
            </a:r>
          </a:p>
          <a:p>
            <a:pPr marL="495300" lvl="0" indent="-342900" algn="just">
              <a:lnSpc>
                <a:spcPct val="200000"/>
              </a:lnSpc>
              <a:spcBef>
                <a:spcPts val="0"/>
              </a:spcBef>
              <a:buFont typeface="Wingdings" panose="05000000000000000000" pitchFamily="2" charset="2"/>
              <a:buChar char="Ø"/>
            </a:pPr>
            <a:r>
              <a:rPr lang="en-US" sz="4800" dirty="0">
                <a:latin typeface="Times New Roman" panose="02020603050405020304" pitchFamily="18" charset="0"/>
                <a:cs typeface="Times New Roman" panose="02020603050405020304" pitchFamily="18" charset="0"/>
              </a:rPr>
              <a:t>Better crop yield and farm productivity</a:t>
            </a:r>
            <a:r>
              <a:rPr lang="en-US" sz="4800" dirty="0">
                <a:latin typeface="Times New Roman" panose="02020603050405020304" pitchFamily="18" charset="0"/>
                <a:ea typeface="Cambria" panose="02040503050406030204" pitchFamily="18" charset="0"/>
                <a:cs typeface="Times New Roman" panose="02020603050405020304" pitchFamily="18" charset="0"/>
              </a:rPr>
              <a:t>.</a:t>
            </a:r>
          </a:p>
          <a:p>
            <a:pPr marL="495300" indent="-342900" algn="just">
              <a:lnSpc>
                <a:spcPct val="200000"/>
              </a:lnSpc>
              <a:spcBef>
                <a:spcPts val="0"/>
              </a:spcBef>
              <a:buFont typeface="Wingdings" panose="05000000000000000000" pitchFamily="2" charset="2"/>
              <a:buChar char="Ø"/>
            </a:pPr>
            <a:r>
              <a:rPr lang="en-US" sz="4800" dirty="0">
                <a:latin typeface="Times New Roman" panose="02020603050405020304" pitchFamily="18" charset="0"/>
                <a:cs typeface="Times New Roman" panose="02020603050405020304" pitchFamily="18" charset="0"/>
              </a:rPr>
              <a:t>Reduced cost of farming inputs.</a:t>
            </a:r>
          </a:p>
          <a:p>
            <a:pPr marL="495300" indent="-342900" algn="just">
              <a:lnSpc>
                <a:spcPct val="200000"/>
              </a:lnSpc>
              <a:spcBef>
                <a:spcPts val="0"/>
              </a:spcBef>
              <a:buFont typeface="Wingdings" panose="05000000000000000000" pitchFamily="2" charset="2"/>
              <a:buChar char="Ø"/>
            </a:pPr>
            <a:r>
              <a:rPr lang="en-US" sz="4800" dirty="0">
                <a:latin typeface="Times New Roman" panose="02020603050405020304" pitchFamily="18" charset="0"/>
                <a:cs typeface="Times New Roman" panose="02020603050405020304" pitchFamily="18" charset="0"/>
              </a:rPr>
              <a:t>Increased farmer income and sustainable farming</a:t>
            </a:r>
            <a:r>
              <a:rPr lang="en-US" sz="4800" dirty="0"/>
              <a:t>.</a:t>
            </a:r>
            <a:endParaRPr lang="en-US" sz="4800" dirty="0">
              <a:latin typeface="Times New Roman" panose="02020603050405020304" pitchFamily="18" charset="0"/>
              <a:ea typeface="Cambria" panose="02040503050406030204" pitchFamily="18" charset="0"/>
              <a:cs typeface="Times New Roman" panose="02020603050405020304" pitchFamily="18" charset="0"/>
            </a:endParaRPr>
          </a:p>
          <a:p>
            <a:endParaRPr lang="en-US" sz="3800"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5787864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r>
              <a:rPr lang="en-US" b="1" dirty="0">
                <a:solidFill>
                  <a:schemeClr val="accent2">
                    <a:lumMod val="75000"/>
                  </a:schemeClr>
                </a:solidFill>
                <a:latin typeface="Cambria" panose="02040503050406030204" pitchFamily="18" charset="0"/>
                <a:ea typeface="Cambria" panose="02040503050406030204" pitchFamily="18" charset="0"/>
              </a:rPr>
              <a:t>URL:</a:t>
            </a:r>
          </a:p>
          <a:p>
            <a:pPr marL="342900" indent="-190500" algn="just">
              <a:spcBef>
                <a:spcPts val="0"/>
              </a:spcBef>
              <a:buSzPct val="100000"/>
              <a:buFont typeface="Arial"/>
              <a:buNone/>
            </a:pPr>
            <a:endParaRPr lang="en-US" b="1" dirty="0">
              <a:solidFill>
                <a:schemeClr val="accent2">
                  <a:lumMod val="75000"/>
                </a:schemeClr>
              </a:solidFill>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b="1" dirty="0">
              <a:solidFill>
                <a:schemeClr val="accent2">
                  <a:lumMod val="75000"/>
                </a:schemeClr>
              </a:solidFill>
              <a:latin typeface="Cambria" panose="02040503050406030204" pitchFamily="18" charset="0"/>
              <a:ea typeface="Cambria" panose="02040503050406030204" pitchFamily="18" charset="0"/>
              <a:hlinkClick r:id="rId3" action="ppaction://hlinksldjump"/>
            </a:endParaRPr>
          </a:p>
          <a:p>
            <a:pPr marL="342900" indent="-190500" algn="just">
              <a:spcBef>
                <a:spcPts val="0"/>
              </a:spcBef>
              <a:buSzPct val="100000"/>
              <a:buNone/>
            </a:pPr>
            <a:r>
              <a:rPr lang="en-US" b="1" dirty="0">
                <a:solidFill>
                  <a:schemeClr val="accent2">
                    <a:lumMod val="75000"/>
                  </a:schemeClr>
                </a:solidFill>
                <a:latin typeface="Cambria" panose="02040503050406030204" pitchFamily="18" charset="0"/>
                <a:ea typeface="Cambria" panose="02040503050406030204" pitchFamily="18" charset="0"/>
                <a:hlinkClick r:id="rId3" action="ppaction://hlinksldjump"/>
              </a:rPr>
              <a:t>https://github.com/Charan-gcr/Enhancing-farmer-productivity-through-innovative-technology-solutions</a:t>
            </a:r>
            <a:endParaRPr lang="en-US" b="1" dirty="0">
              <a:solidFill>
                <a:schemeClr val="accent2">
                  <a:lumMod val="75000"/>
                </a:schemeClr>
              </a:solidFill>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563573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fontScale="92500" lnSpcReduction="10000"/>
          </a:bodyPr>
          <a:lstStyle/>
          <a:p>
            <a:pPr marL="342900" lvl="0" indent="-190500" algn="just" rtl="0">
              <a:spcBef>
                <a:spcPts val="0"/>
              </a:spcBef>
              <a:spcAft>
                <a:spcPts val="0"/>
              </a:spcAft>
              <a:buClr>
                <a:schemeClr val="dk1"/>
              </a:buClr>
              <a:buSzPct val="100000"/>
              <a:buNone/>
            </a:pPr>
            <a:r>
              <a:rPr lang="en-US" b="1" dirty="0">
                <a:latin typeface="Cambria" panose="02040503050406030204" pitchFamily="18" charset="0"/>
                <a:ea typeface="Cambria" panose="02040503050406030204" pitchFamily="18" charset="0"/>
              </a:rPr>
              <a:t>Technology Stack Components:</a:t>
            </a:r>
          </a:p>
          <a:p>
            <a:pPr marL="342900" lvl="0" indent="-190500" algn="just">
              <a:spcBef>
                <a:spcPts val="0"/>
              </a:spcBef>
              <a:buSzPct val="100000"/>
              <a:buNone/>
            </a:pPr>
            <a:endParaRPr lang="en-US" dirty="0">
              <a:latin typeface="Cambria" panose="02040503050406030204" pitchFamily="18" charset="0"/>
              <a:ea typeface="Cambria" panose="02040503050406030204" pitchFamily="18" charset="0"/>
            </a:endParaRPr>
          </a:p>
          <a:p>
            <a:pPr marL="342900" lvl="0" indent="-190500" algn="just">
              <a:spcBef>
                <a:spcPts val="0"/>
              </a:spcBef>
              <a:buSzPct val="100000"/>
              <a:buNone/>
            </a:pPr>
            <a:r>
              <a:rPr lang="en-US" dirty="0">
                <a:latin typeface="Times New Roman" panose="02020603050405020304" pitchFamily="18" charset="0"/>
                <a:cs typeface="Times New Roman" panose="02020603050405020304" pitchFamily="18" charset="0"/>
              </a:rPr>
              <a:t>Frontend: Web or mobile interface for farmers (HTML, CSS, JavaScript / Android app).</a:t>
            </a:r>
            <a:endParaRPr lang="en-US" dirty="0">
              <a:latin typeface="Times New Roman" panose="02020603050405020304" pitchFamily="18" charset="0"/>
              <a:ea typeface="Cambria" panose="02040503050406030204" pitchFamily="18" charset="0"/>
              <a:cs typeface="Times New Roman" panose="02020603050405020304" pitchFamily="18" charset="0"/>
            </a:endParaRPr>
          </a:p>
          <a:p>
            <a:pPr marL="342900" lvl="0" indent="-190500" algn="just">
              <a:spcBef>
                <a:spcPts val="0"/>
              </a:spcBef>
              <a:buSzPct val="100000"/>
              <a:buNone/>
            </a:pPr>
            <a:endParaRPr lang="en-US" dirty="0">
              <a:latin typeface="Cambria" panose="02040503050406030204" pitchFamily="18" charset="0"/>
              <a:ea typeface="Cambria" panose="02040503050406030204" pitchFamily="18" charset="0"/>
            </a:endParaRPr>
          </a:p>
          <a:p>
            <a:pPr marL="342900" lvl="0" indent="-190500" algn="just">
              <a:spcBef>
                <a:spcPts val="0"/>
              </a:spcBef>
              <a:buSzPct val="100000"/>
              <a:buNone/>
            </a:pPr>
            <a:r>
              <a:rPr lang="en-US" dirty="0">
                <a:latin typeface="Cambria" panose="02040503050406030204" pitchFamily="18" charset="0"/>
                <a:ea typeface="Cambria" panose="02040503050406030204" pitchFamily="18" charset="0"/>
              </a:rPr>
              <a:t>Backend: Python /Java/Node.js</a:t>
            </a:r>
          </a:p>
          <a:p>
            <a:pPr marL="342900" lvl="0" indent="-190500" algn="just">
              <a:spcBef>
                <a:spcPts val="0"/>
              </a:spcBef>
              <a:buSzPct val="100000"/>
              <a:buNone/>
            </a:pPr>
            <a:endParaRPr lang="en-US" dirty="0">
              <a:latin typeface="Cambria" panose="02040503050406030204" pitchFamily="18" charset="0"/>
              <a:ea typeface="Cambria" panose="02040503050406030204" pitchFamily="18" charset="0"/>
            </a:endParaRPr>
          </a:p>
          <a:p>
            <a:pPr marL="342900" lvl="0" indent="-190500" algn="just">
              <a:spcBef>
                <a:spcPts val="0"/>
              </a:spcBef>
              <a:buSzPct val="100000"/>
              <a:buNone/>
            </a:pPr>
            <a:r>
              <a:rPr lang="en-US" dirty="0">
                <a:latin typeface="Cambria" panose="02040503050406030204" pitchFamily="18" charset="0"/>
                <a:ea typeface="Cambria" panose="02040503050406030204" pitchFamily="18" charset="0"/>
              </a:rPr>
              <a:t>Database &amp; Analytics: MySQL/Firebase.</a:t>
            </a:r>
          </a:p>
          <a:p>
            <a:pPr marL="342900" lvl="0" indent="-190500" algn="just">
              <a:spcBef>
                <a:spcPts val="0"/>
              </a:spcBef>
              <a:buSzPct val="100000"/>
              <a:buNone/>
            </a:pPr>
            <a:endParaRPr lang="en-US" dirty="0">
              <a:latin typeface="Cambria" panose="02040503050406030204" pitchFamily="18" charset="0"/>
              <a:ea typeface="Cambria" panose="02040503050406030204" pitchFamily="18" charset="0"/>
            </a:endParaRPr>
          </a:p>
          <a:p>
            <a:pPr marL="342900" lvl="0" indent="-190500" algn="just">
              <a:spcBef>
                <a:spcPts val="0"/>
              </a:spcBef>
              <a:buSzPct val="100000"/>
              <a:buNone/>
            </a:pPr>
            <a:r>
              <a:rPr lang="en-US" b="1" dirty="0">
                <a:latin typeface="Cambria" panose="02040503050406030204" pitchFamily="18" charset="0"/>
                <a:ea typeface="Cambria" panose="02040503050406030204" pitchFamily="18" charset="0"/>
              </a:rPr>
              <a:t>Software Requirements:</a:t>
            </a:r>
          </a:p>
          <a:p>
            <a:pPr marL="342900" lvl="0" indent="-190500" algn="just">
              <a:spcBef>
                <a:spcPts val="0"/>
              </a:spcBef>
              <a:buSzPct val="100000"/>
              <a:buNone/>
            </a:pPr>
            <a:endParaRPr lang="en-US" dirty="0">
              <a:latin typeface="Cambria" panose="02040503050406030204" pitchFamily="18" charset="0"/>
              <a:ea typeface="Cambria" panose="02040503050406030204" pitchFamily="18" charset="0"/>
            </a:endParaRPr>
          </a:p>
          <a:p>
            <a:pPr marL="342900" lvl="0" indent="-190500" algn="just">
              <a:spcBef>
                <a:spcPts val="0"/>
              </a:spcBef>
              <a:buSzPct val="100000"/>
              <a:buNone/>
            </a:pPr>
            <a:r>
              <a:rPr lang="en-US" dirty="0">
                <a:latin typeface="Cambria" panose="02040503050406030204" pitchFamily="18" charset="0"/>
                <a:ea typeface="Cambria" panose="02040503050406030204" pitchFamily="18" charset="0"/>
              </a:rPr>
              <a:t>Operating System: Windows/Linux/Android</a:t>
            </a:r>
          </a:p>
          <a:p>
            <a:pPr marL="342900" lvl="0" indent="-190500" algn="just">
              <a:spcBef>
                <a:spcPts val="0"/>
              </a:spcBef>
              <a:buSzPct val="100000"/>
              <a:buNone/>
            </a:pPr>
            <a:endParaRPr lang="en-US" dirty="0">
              <a:latin typeface="Cambria" panose="02040503050406030204" pitchFamily="18" charset="0"/>
              <a:ea typeface="Cambria" panose="02040503050406030204" pitchFamily="18" charset="0"/>
            </a:endParaRPr>
          </a:p>
          <a:p>
            <a:pPr marL="342900" lvl="0" indent="-190500" algn="just">
              <a:spcBef>
                <a:spcPts val="0"/>
              </a:spcBef>
              <a:buSzPct val="100000"/>
              <a:buNone/>
            </a:pPr>
            <a:r>
              <a:rPr lang="en-US" dirty="0">
                <a:latin typeface="Cambria" panose="02040503050406030204" pitchFamily="18" charset="0"/>
                <a:ea typeface="Cambria" panose="02040503050406030204" pitchFamily="18" charset="0"/>
              </a:rPr>
              <a:t>Web Browser: Google Chrome</a:t>
            </a:r>
          </a:p>
          <a:p>
            <a:pPr marL="342900" lvl="0" indent="-190500" algn="just">
              <a:spcBef>
                <a:spcPts val="0"/>
              </a:spcBef>
              <a:buSzPct val="100000"/>
              <a:buNone/>
            </a:pPr>
            <a:endParaRPr lang="en-US" dirty="0">
              <a:latin typeface="Cambria" panose="02040503050406030204" pitchFamily="18" charset="0"/>
              <a:ea typeface="Cambria" panose="02040503050406030204" pitchFamily="18" charset="0"/>
            </a:endParaRPr>
          </a:p>
          <a:p>
            <a:pPr marL="342900" lvl="0" indent="-190500" algn="just">
              <a:spcBef>
                <a:spcPts val="0"/>
              </a:spcBef>
              <a:buSzPct val="100000"/>
              <a:buNone/>
            </a:pPr>
            <a:r>
              <a:rPr lang="en-US" dirty="0">
                <a:latin typeface="Cambria" panose="02040503050406030204" pitchFamily="18" charset="0"/>
                <a:ea typeface="Cambria" panose="02040503050406030204" pitchFamily="18" charset="0"/>
              </a:rPr>
              <a:t>Development Tools: VS Code/Android Studio</a:t>
            </a:r>
          </a:p>
          <a:p>
            <a:pPr marL="342900" lvl="0" indent="-190500" algn="just">
              <a:spcBef>
                <a:spcPts val="0"/>
              </a:spcBef>
              <a:buSzPct val="100000"/>
              <a:buNone/>
            </a:pPr>
            <a:endParaRPr lang="en-US" dirty="0">
              <a:latin typeface="Cambria" panose="02040503050406030204" pitchFamily="18" charset="0"/>
              <a:ea typeface="Cambria" panose="02040503050406030204" pitchFamily="18" charset="0"/>
            </a:endParaRPr>
          </a:p>
          <a:p>
            <a:pPr marL="342900" lvl="0" indent="-190500" algn="just">
              <a:spcBef>
                <a:spcPts val="0"/>
              </a:spcBef>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0308161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92A63088-F72F-B316-155E-FD7474C50C98}"/>
            </a:ext>
          </a:extLst>
        </p:cNvPr>
        <p:cNvGrpSpPr/>
        <p:nvPr/>
      </p:nvGrpSpPr>
      <p:grpSpPr>
        <a:xfrm>
          <a:off x="0" y="0"/>
          <a:ext cx="0" cy="0"/>
          <a:chOff x="0" y="0"/>
          <a:chExt cx="0" cy="0"/>
        </a:xfrm>
      </p:grpSpPr>
      <p:sp>
        <p:nvSpPr>
          <p:cNvPr id="96" name="Google Shape;96;p14">
            <a:extLst>
              <a:ext uri="{FF2B5EF4-FFF2-40B4-BE49-F238E27FC236}">
                <a16:creationId xmlns:a16="http://schemas.microsoft.com/office/drawing/2014/main" id="{F11A570D-A402-3185-D729-D2D9E757AC56}"/>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 (continuation)..</a:t>
            </a:r>
            <a:endParaRPr dirty="0">
              <a:latin typeface="Cambria" panose="02040503050406030204" pitchFamily="18" charset="0"/>
              <a:ea typeface="Cambria" panose="02040503050406030204" pitchFamily="18" charset="0"/>
            </a:endParaRPr>
          </a:p>
        </p:txBody>
      </p:sp>
      <p:sp>
        <p:nvSpPr>
          <p:cNvPr id="97" name="Google Shape;97;p14">
            <a:extLst>
              <a:ext uri="{FF2B5EF4-FFF2-40B4-BE49-F238E27FC236}">
                <a16:creationId xmlns:a16="http://schemas.microsoft.com/office/drawing/2014/main" id="{D2D60F7F-75BF-864F-1272-9C110BA062F9}"/>
              </a:ext>
            </a:extLst>
          </p:cNvPr>
          <p:cNvSpPr txBox="1">
            <a:spLocks noGrp="1"/>
          </p:cNvSpPr>
          <p:nvPr>
            <p:ph type="body" idx="1"/>
          </p:nvPr>
        </p:nvSpPr>
        <p:spPr>
          <a:xfrm>
            <a:off x="655782" y="1466273"/>
            <a:ext cx="10668000" cy="3924299"/>
          </a:xfrm>
          <a:prstGeom prst="rect">
            <a:avLst/>
          </a:prstGeom>
          <a:noFill/>
          <a:ln>
            <a:noFill/>
          </a:ln>
        </p:spPr>
        <p:txBody>
          <a:bodyPr spcFirstLastPara="1" wrap="square" lIns="91425" tIns="45700" rIns="91425" bIns="45700" anchor="t" anchorCtr="0">
            <a:normAutofit/>
          </a:bodyPr>
          <a:lstStyle/>
          <a:p>
            <a:pPr marL="495300" indent="-342900" algn="just">
              <a:lnSpc>
                <a:spcPct val="200000"/>
              </a:lnSpc>
              <a:spcBef>
                <a:spcPts val="0"/>
              </a:spcBef>
              <a:buFont typeface="Arial" panose="020B0604020202020204" pitchFamily="34" charset="0"/>
              <a:buChar char="•"/>
            </a:pPr>
            <a:r>
              <a:rPr lang="en-US" b="1" dirty="0">
                <a:latin typeface="Cambria" panose="02040503050406030204" pitchFamily="18" charset="0"/>
                <a:ea typeface="Cambria" panose="02040503050406030204" pitchFamily="18" charset="0"/>
              </a:rPr>
              <a:t>Innovation or Novel Contributions</a:t>
            </a:r>
            <a:r>
              <a:rPr lang="en-US" dirty="0">
                <a:latin typeface="Cambria" panose="02040503050406030204" pitchFamily="18" charset="0"/>
                <a:ea typeface="Cambria" panose="02040503050406030204" pitchFamily="18" charset="0"/>
              </a:rPr>
              <a:t>:</a:t>
            </a:r>
            <a:endParaRPr lang="en-US" b="1" dirty="0">
              <a:latin typeface="Cambria" panose="02040503050406030204" pitchFamily="18" charset="0"/>
              <a:ea typeface="Cambria" panose="02040503050406030204" pitchFamily="18" charset="0"/>
            </a:endParaRPr>
          </a:p>
          <a:p>
            <a:pPr marL="495300" lvl="0" indent="-342900" algn="just">
              <a:lnSpc>
                <a:spcPct val="200000"/>
              </a:lnSpc>
              <a:spcBef>
                <a:spcPts val="0"/>
              </a:spcBef>
              <a:buFont typeface="Wingdings" panose="05000000000000000000" pitchFamily="2" charset="2"/>
              <a:buChar char="Ø"/>
            </a:pPr>
            <a:r>
              <a:rPr lang="en-US" dirty="0">
                <a:latin typeface="Cambria" panose="02040503050406030204" pitchFamily="18" charset="0"/>
                <a:ea typeface="Cambria" panose="02040503050406030204" pitchFamily="18" charset="0"/>
              </a:rPr>
              <a:t> </a:t>
            </a:r>
            <a:r>
              <a:rPr lang="en-US" dirty="0">
                <a:latin typeface="Times New Roman" panose="02020603050405020304" pitchFamily="18" charset="0"/>
                <a:cs typeface="Times New Roman" panose="02020603050405020304" pitchFamily="18" charset="0"/>
              </a:rPr>
              <a:t>Combines soil, weather, and crop data in a single platform.</a:t>
            </a:r>
            <a:endParaRPr lang="en-US" dirty="0">
              <a:latin typeface="Times New Roman" panose="02020603050405020304" pitchFamily="18" charset="0"/>
              <a:ea typeface="Cambria" panose="02040503050406030204" pitchFamily="18" charset="0"/>
              <a:cs typeface="Times New Roman" panose="02020603050405020304" pitchFamily="18" charset="0"/>
            </a:endParaRPr>
          </a:p>
          <a:p>
            <a:pPr marL="495300" lvl="0" indent="-342900" algn="just">
              <a:lnSpc>
                <a:spcPct val="200000"/>
              </a:lnSpc>
              <a:spcBef>
                <a:spcPts val="0"/>
              </a:spcBef>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Provides simple and easy-to-understand recommendations for farmers. </a:t>
            </a:r>
          </a:p>
          <a:p>
            <a:pPr marL="495300" lvl="0" indent="-342900" algn="just">
              <a:lnSpc>
                <a:spcPct val="200000"/>
              </a:lnSpc>
              <a:spcBef>
                <a:spcPts val="0"/>
              </a:spcBef>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Offers real-time alerts for weather, pests, and diseases. </a:t>
            </a:r>
          </a:p>
          <a:p>
            <a:pPr marL="495300" lvl="0" indent="-342900" algn="just">
              <a:lnSpc>
                <a:spcPct val="200000"/>
              </a:lnSpc>
              <a:spcBef>
                <a:spcPts val="0"/>
              </a:spcBef>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Supports farmers in increasing yield and income using technology.</a:t>
            </a:r>
            <a:endParaRPr lang="en-US" dirty="0">
              <a:latin typeface="Times New Roman" panose="02020603050405020304" pitchFamily="18" charset="0"/>
              <a:ea typeface="Cambria" panose="02040503050406030204" pitchFamily="18" charset="0"/>
              <a:cs typeface="Times New Roman" panose="020206030504050203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6259472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642D24CA-E287-2929-7D48-EAD3646DE839}"/>
            </a:ext>
          </a:extLst>
        </p:cNvPr>
        <p:cNvGrpSpPr/>
        <p:nvPr/>
      </p:nvGrpSpPr>
      <p:grpSpPr>
        <a:xfrm>
          <a:off x="0" y="0"/>
          <a:ext cx="0" cy="0"/>
          <a:chOff x="0" y="0"/>
          <a:chExt cx="0" cy="0"/>
        </a:xfrm>
      </p:grpSpPr>
      <p:sp>
        <p:nvSpPr>
          <p:cNvPr id="96" name="Google Shape;96;p14">
            <a:extLst>
              <a:ext uri="{FF2B5EF4-FFF2-40B4-BE49-F238E27FC236}">
                <a16:creationId xmlns:a16="http://schemas.microsoft.com/office/drawing/2014/main" id="{F2FD7F2B-3198-0179-E468-EE5313DCE6D7}"/>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 (continuation)..</a:t>
            </a:r>
            <a:endParaRPr dirty="0">
              <a:latin typeface="Cambria" panose="02040503050406030204" pitchFamily="18" charset="0"/>
              <a:ea typeface="Cambria" panose="02040503050406030204" pitchFamily="18" charset="0"/>
            </a:endParaRPr>
          </a:p>
        </p:txBody>
      </p:sp>
      <p:sp>
        <p:nvSpPr>
          <p:cNvPr id="97" name="Google Shape;97;p14">
            <a:extLst>
              <a:ext uri="{FF2B5EF4-FFF2-40B4-BE49-F238E27FC236}">
                <a16:creationId xmlns:a16="http://schemas.microsoft.com/office/drawing/2014/main" id="{36590D89-9C9C-E05F-DBE9-F04FCA63C815}"/>
              </a:ext>
            </a:extLst>
          </p:cNvPr>
          <p:cNvSpPr txBox="1">
            <a:spLocks noGrp="1"/>
          </p:cNvSpPr>
          <p:nvPr>
            <p:ph type="body" idx="1"/>
          </p:nvPr>
        </p:nvSpPr>
        <p:spPr>
          <a:xfrm>
            <a:off x="655782" y="1466273"/>
            <a:ext cx="10668000" cy="3924299"/>
          </a:xfrm>
          <a:prstGeom prst="rect">
            <a:avLst/>
          </a:prstGeom>
          <a:noFill/>
          <a:ln>
            <a:noFill/>
          </a:ln>
        </p:spPr>
        <p:txBody>
          <a:bodyPr spcFirstLastPara="1" wrap="square" lIns="91425" tIns="45700" rIns="91425" bIns="45700" anchor="t" anchorCtr="0">
            <a:normAutofit/>
          </a:bodyPr>
          <a:lstStyle/>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 </a:t>
            </a:r>
            <a:endParaRPr lang="en-US" b="1" dirty="0">
              <a:latin typeface="Cambria" panose="02040503050406030204" pitchFamily="18" charset="0"/>
              <a:ea typeface="Cambria" panose="02040503050406030204" pitchFamily="18" charset="0"/>
            </a:endParaRPr>
          </a:p>
          <a:p>
            <a:pPr marL="495300" lvl="0" indent="-342900" algn="just">
              <a:lnSpc>
                <a:spcPct val="200000"/>
              </a:lnSpc>
              <a:spcBef>
                <a:spcPts val="0"/>
              </a:spcBef>
              <a:buFont typeface="Wingdings" panose="05000000000000000000" pitchFamily="2" charset="2"/>
              <a:buChar char="Ø"/>
            </a:pPr>
            <a:r>
              <a:rPr lang="en-US" dirty="0">
                <a:latin typeface="Cambria" panose="02040503050406030204" pitchFamily="18" charset="0"/>
                <a:ea typeface="Cambria" panose="02040503050406030204" pitchFamily="18" charset="0"/>
              </a:rPr>
              <a:t> </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pic>
        <p:nvPicPr>
          <p:cNvPr id="3" name="Picture 2">
            <a:extLst>
              <a:ext uri="{FF2B5EF4-FFF2-40B4-BE49-F238E27FC236}">
                <a16:creationId xmlns:a16="http://schemas.microsoft.com/office/drawing/2014/main" id="{FA0C6410-C5E6-B421-A464-F99DC673D27E}"/>
              </a:ext>
            </a:extLst>
          </p:cNvPr>
          <p:cNvPicPr>
            <a:picLocks noChangeAspect="1"/>
          </p:cNvPicPr>
          <p:nvPr/>
        </p:nvPicPr>
        <p:blipFill>
          <a:blip r:embed="rId3"/>
          <a:stretch>
            <a:fillRect/>
          </a:stretch>
        </p:blipFill>
        <p:spPr>
          <a:xfrm>
            <a:off x="176463" y="1138989"/>
            <a:ext cx="11654387" cy="5200304"/>
          </a:xfrm>
          <a:prstGeom prst="rect">
            <a:avLst/>
          </a:prstGeom>
        </p:spPr>
      </p:pic>
    </p:spTree>
    <p:extLst>
      <p:ext uri="{BB962C8B-B14F-4D97-AF65-F5344CB8AC3E}">
        <p14:creationId xmlns:p14="http://schemas.microsoft.com/office/powerpoint/2010/main" val="36585680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Login/ register dashboard</a:t>
            </a:r>
          </a:p>
        </p:txBody>
      </p:sp>
      <p:sp>
        <p:nvSpPr>
          <p:cNvPr id="3" name="Text Placeholder 2"/>
          <p:cNvSpPr>
            <a:spLocks noGrp="1"/>
          </p:cNvSpPr>
          <p:nvPr>
            <p:ph type="body" idx="1"/>
          </p:nvPr>
        </p:nvSpPr>
        <p:spPr>
          <a:xfrm>
            <a:off x="7383566" y="1239139"/>
            <a:ext cx="4097233" cy="4631435"/>
          </a:xfrm>
        </p:spPr>
        <p:txBody>
          <a:bodyPr>
            <a:noAutofit/>
          </a:bodyPr>
          <a:lstStyle/>
          <a:p>
            <a:r>
              <a:rPr lang="en-US" sz="1800" dirty="0">
                <a:latin typeface="Times New Roman" pitchFamily="18" charset="0"/>
                <a:cs typeface="Times New Roman" pitchFamily="18" charset="0"/>
              </a:rPr>
              <a:t>Entry point of the </a:t>
            </a:r>
            <a:r>
              <a:rPr lang="en-US" sz="1800" dirty="0" err="1">
                <a:latin typeface="Times New Roman" pitchFamily="18" charset="0"/>
                <a:cs typeface="Times New Roman" pitchFamily="18" charset="0"/>
              </a:rPr>
              <a:t>Agri</a:t>
            </a:r>
            <a:r>
              <a:rPr lang="en-US" sz="1800" dirty="0">
                <a:latin typeface="Times New Roman" pitchFamily="18" charset="0"/>
                <a:cs typeface="Times New Roman" pitchFamily="18" charset="0"/>
              </a:rPr>
              <a:t> Vision system </a:t>
            </a:r>
          </a:p>
          <a:p>
            <a:r>
              <a:rPr lang="en-US" sz="1800" dirty="0">
                <a:latin typeface="Times New Roman" pitchFamily="18" charset="0"/>
                <a:cs typeface="Times New Roman" pitchFamily="18" charset="0"/>
              </a:rPr>
              <a:t>Provides user authentication (Login/Register)</a:t>
            </a:r>
          </a:p>
          <a:p>
            <a:r>
              <a:rPr lang="en-US" sz="1800" dirty="0">
                <a:latin typeface="Times New Roman" pitchFamily="18" charset="0"/>
                <a:cs typeface="Times New Roman" pitchFamily="18" charset="0"/>
              </a:rPr>
              <a:t> Simple and user-friendly interface for farmers</a:t>
            </a:r>
          </a:p>
          <a:p>
            <a:r>
              <a:rPr lang="en-US" sz="1800" dirty="0">
                <a:latin typeface="Times New Roman" pitchFamily="18" charset="0"/>
                <a:cs typeface="Times New Roman" pitchFamily="18" charset="0"/>
              </a:rPr>
              <a:t>Highlights key features:</a:t>
            </a:r>
          </a:p>
          <a:p>
            <a:pPr lvl="1"/>
            <a:r>
              <a:rPr lang="en-US" sz="1800" dirty="0">
                <a:latin typeface="Times New Roman" pitchFamily="18" charset="0"/>
                <a:cs typeface="Times New Roman" pitchFamily="18" charset="0"/>
              </a:rPr>
              <a:t>Disease detection </a:t>
            </a:r>
          </a:p>
          <a:p>
            <a:pPr lvl="1"/>
            <a:r>
              <a:rPr lang="en-US" sz="1800" dirty="0">
                <a:latin typeface="Times New Roman" pitchFamily="18" charset="0"/>
                <a:cs typeface="Times New Roman" pitchFamily="18" charset="0"/>
              </a:rPr>
              <a:t>Crop &amp; soil recommendations </a:t>
            </a:r>
          </a:p>
          <a:p>
            <a:pPr lvl="1"/>
            <a:r>
              <a:rPr lang="en-US" sz="1800" dirty="0">
                <a:latin typeface="Times New Roman" pitchFamily="18" charset="0"/>
                <a:cs typeface="Times New Roman" pitchFamily="18" charset="0"/>
              </a:rPr>
              <a:t>Farming guidance </a:t>
            </a:r>
          </a:p>
          <a:p>
            <a:r>
              <a:rPr lang="en-US" sz="1800" dirty="0">
                <a:latin typeface="Times New Roman" pitchFamily="18" charset="0"/>
                <a:cs typeface="Times New Roman" pitchFamily="18" charset="0"/>
              </a:rPr>
              <a:t>Secure login using backend validation &amp; database Enables personalized dashboard access</a:t>
            </a:r>
          </a:p>
          <a:p>
            <a:r>
              <a:rPr lang="en-US" sz="1800" dirty="0">
                <a:latin typeface="Times New Roman" pitchFamily="18" charset="0"/>
                <a:cs typeface="Times New Roman" pitchFamily="18" charset="0"/>
              </a:rPr>
              <a:t>Designed for easy navigation and accessibility</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5855" y="1239139"/>
            <a:ext cx="6093152" cy="46314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102378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Register</a:t>
            </a:r>
          </a:p>
        </p:txBody>
      </p:sp>
      <p:sp>
        <p:nvSpPr>
          <p:cNvPr id="3" name="Text Placeholder 2"/>
          <p:cNvSpPr>
            <a:spLocks noGrp="1"/>
          </p:cNvSpPr>
          <p:nvPr>
            <p:ph type="body" idx="1"/>
          </p:nvPr>
        </p:nvSpPr>
        <p:spPr>
          <a:xfrm>
            <a:off x="7118648" y="1143001"/>
            <a:ext cx="4362152" cy="4813418"/>
          </a:xfrm>
        </p:spPr>
        <p:txBody>
          <a:bodyPr>
            <a:normAutofit/>
          </a:bodyPr>
          <a:lstStyle/>
          <a:p>
            <a:r>
              <a:rPr lang="en-US" sz="2000" dirty="0">
                <a:latin typeface="Times New Roman" pitchFamily="18" charset="0"/>
                <a:cs typeface="Times New Roman" pitchFamily="18" charset="0"/>
              </a:rPr>
              <a:t>New farmer account creation interface</a:t>
            </a:r>
          </a:p>
          <a:p>
            <a:r>
              <a:rPr lang="en-US" sz="2000" dirty="0">
                <a:latin typeface="Times New Roman" pitchFamily="18" charset="0"/>
                <a:cs typeface="Times New Roman" pitchFamily="18" charset="0"/>
              </a:rPr>
              <a:t>Collects basic user details: </a:t>
            </a:r>
          </a:p>
          <a:p>
            <a:pPr lvl="1"/>
            <a:r>
              <a:rPr lang="en-US" dirty="0">
                <a:latin typeface="Times New Roman" pitchFamily="18" charset="0"/>
                <a:cs typeface="Times New Roman" pitchFamily="18" charset="0"/>
              </a:rPr>
              <a:t>Full Name </a:t>
            </a:r>
          </a:p>
          <a:p>
            <a:pPr lvl="1"/>
            <a:r>
              <a:rPr lang="en-US" dirty="0">
                <a:latin typeface="Times New Roman" pitchFamily="18" charset="0"/>
                <a:cs typeface="Times New Roman" pitchFamily="18" charset="0"/>
              </a:rPr>
              <a:t>Phone Number </a:t>
            </a:r>
          </a:p>
          <a:p>
            <a:pPr lvl="1"/>
            <a:r>
              <a:rPr lang="en-US" dirty="0">
                <a:latin typeface="Times New Roman" pitchFamily="18" charset="0"/>
                <a:cs typeface="Times New Roman" pitchFamily="18" charset="0"/>
              </a:rPr>
              <a:t>Password </a:t>
            </a:r>
          </a:p>
          <a:p>
            <a:r>
              <a:rPr lang="en-US" sz="2000" dirty="0">
                <a:latin typeface="Times New Roman" pitchFamily="18" charset="0"/>
                <a:cs typeface="Times New Roman" pitchFamily="18" charset="0"/>
              </a:rPr>
              <a:t>Secure data storage in database </a:t>
            </a:r>
          </a:p>
          <a:p>
            <a:r>
              <a:rPr lang="en-US" sz="2000" dirty="0">
                <a:latin typeface="Times New Roman" pitchFamily="18" charset="0"/>
                <a:cs typeface="Times New Roman" pitchFamily="18" charset="0"/>
              </a:rPr>
              <a:t>Input validation for correct data entry </a:t>
            </a:r>
          </a:p>
          <a:p>
            <a:r>
              <a:rPr lang="en-US" sz="2000" dirty="0">
                <a:latin typeface="Times New Roman" pitchFamily="18" charset="0"/>
                <a:cs typeface="Times New Roman" pitchFamily="18" charset="0"/>
              </a:rPr>
              <a:t>Enables first-time users to access system features </a:t>
            </a:r>
          </a:p>
          <a:p>
            <a:r>
              <a:rPr lang="en-US" sz="2000" dirty="0">
                <a:latin typeface="Times New Roman" pitchFamily="18" charset="0"/>
                <a:cs typeface="Times New Roman" pitchFamily="18" charset="0"/>
              </a:rPr>
              <a:t>Redirects to login/dashboard after registration</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5315" y="1153683"/>
            <a:ext cx="5400943" cy="46232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692320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Login</a:t>
            </a:r>
          </a:p>
        </p:txBody>
      </p:sp>
      <p:sp>
        <p:nvSpPr>
          <p:cNvPr id="3" name="Text Placeholder 2"/>
          <p:cNvSpPr>
            <a:spLocks noGrp="1"/>
          </p:cNvSpPr>
          <p:nvPr>
            <p:ph type="body" idx="1"/>
          </p:nvPr>
        </p:nvSpPr>
        <p:spPr>
          <a:xfrm>
            <a:off x="6511895" y="1222049"/>
            <a:ext cx="3905428" cy="4700542"/>
          </a:xfrm>
        </p:spPr>
        <p:txBody>
          <a:bodyPr>
            <a:noAutofit/>
          </a:bodyPr>
          <a:lstStyle/>
          <a:p>
            <a:r>
              <a:rPr lang="en-US" sz="2000" dirty="0">
                <a:latin typeface="Times New Roman" pitchFamily="18" charset="0"/>
                <a:cs typeface="Times New Roman" pitchFamily="18" charset="0"/>
              </a:rPr>
              <a:t>Farmer authentication interface </a:t>
            </a:r>
          </a:p>
          <a:p>
            <a:r>
              <a:rPr lang="en-US" sz="2000" dirty="0">
                <a:latin typeface="Times New Roman" pitchFamily="18" charset="0"/>
                <a:cs typeface="Times New Roman" pitchFamily="18" charset="0"/>
              </a:rPr>
              <a:t>Supports Login &amp; New User Registration </a:t>
            </a:r>
          </a:p>
          <a:p>
            <a:r>
              <a:rPr lang="en-US" sz="2000" dirty="0">
                <a:latin typeface="Times New Roman" pitchFamily="18" charset="0"/>
                <a:cs typeface="Times New Roman" pitchFamily="18" charset="0"/>
              </a:rPr>
              <a:t>Input fields: </a:t>
            </a:r>
          </a:p>
          <a:p>
            <a:pPr marL="876300" lvl="1" indent="-342900"/>
            <a:r>
              <a:rPr lang="en-US" dirty="0">
                <a:latin typeface="Times New Roman" pitchFamily="18" charset="0"/>
                <a:cs typeface="Times New Roman" pitchFamily="18" charset="0"/>
              </a:rPr>
              <a:t>Phone/Email </a:t>
            </a:r>
          </a:p>
          <a:p>
            <a:pPr marL="876300" lvl="1" indent="-342900"/>
            <a:r>
              <a:rPr lang="en-US" dirty="0">
                <a:latin typeface="Times New Roman" pitchFamily="18" charset="0"/>
                <a:cs typeface="Times New Roman" pitchFamily="18" charset="0"/>
              </a:rPr>
              <a:t>Password </a:t>
            </a:r>
          </a:p>
          <a:p>
            <a:r>
              <a:rPr lang="en-US" sz="2000" dirty="0">
                <a:latin typeface="Times New Roman" pitchFamily="18" charset="0"/>
                <a:cs typeface="Times New Roman" pitchFamily="18" charset="0"/>
              </a:rPr>
              <a:t>Secure credential verification via backend</a:t>
            </a:r>
          </a:p>
          <a:p>
            <a:r>
              <a:rPr lang="en-US" sz="2000" dirty="0">
                <a:latin typeface="Times New Roman" pitchFamily="18" charset="0"/>
                <a:cs typeface="Times New Roman" pitchFamily="18" charset="0"/>
              </a:rPr>
              <a:t>“Show Password” feature for usability </a:t>
            </a:r>
          </a:p>
          <a:p>
            <a:r>
              <a:rPr lang="en-US" sz="2000" dirty="0">
                <a:latin typeface="Times New Roman" pitchFamily="18" charset="0"/>
                <a:cs typeface="Times New Roman" pitchFamily="18" charset="0"/>
              </a:rPr>
              <a:t>Redirects user to dashboard after login</a:t>
            </a:r>
          </a:p>
          <a:p>
            <a:r>
              <a:rPr lang="en-US" sz="2000" dirty="0">
                <a:latin typeface="Times New Roman" pitchFamily="18" charset="0"/>
                <a:cs typeface="Times New Roman" pitchFamily="18" charset="0"/>
              </a:rPr>
              <a:t>Ensures personalized access to services</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8404" y="1222049"/>
            <a:ext cx="4828374" cy="46574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817711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[1] Ministry of Agriculture &amp; Farmers Welfare, Government of India, “Digital Agriculture Mission 2021–2025,” New Delhi, India, 2021.</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[2] Food and Agriculture Organization of the United Nations, “The State of Food and Agriculture,” FAO, Rome, Italy, 2022.</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[3] A. Kamilaris, A. Kartakoullis, and F. X. Prenafeta-Boldú, “A review on the practice of big data analysis in agriculture,” </a:t>
            </a:r>
            <a:r>
              <a:rPr lang="en-US" i="1" dirty="0">
                <a:latin typeface="Times New Roman" panose="02020603050405020304" pitchFamily="18" charset="0"/>
                <a:cs typeface="Times New Roman" panose="02020603050405020304" pitchFamily="18" charset="0"/>
              </a:rPr>
              <a:t>Computers and Electronics in Agriculture</a:t>
            </a:r>
            <a:r>
              <a:rPr lang="en-US" dirty="0">
                <a:latin typeface="Times New Roman" panose="02020603050405020304" pitchFamily="18" charset="0"/>
                <a:cs typeface="Times New Roman" panose="02020603050405020304" pitchFamily="18" charset="0"/>
              </a:rPr>
              <a:t>, vol. 143, pp. 23–37, 2017.</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[4] S. Wolfert, L. Ge, C. Verdouw, and M. J. Bogaardt, “Big data in smart farming – A review,” </a:t>
            </a:r>
            <a:r>
              <a:rPr lang="en-US" i="1" dirty="0">
                <a:latin typeface="Times New Roman" panose="02020603050405020304" pitchFamily="18" charset="0"/>
                <a:cs typeface="Times New Roman" panose="02020603050405020304" pitchFamily="18" charset="0"/>
              </a:rPr>
              <a:t>Agricultural Systems</a:t>
            </a:r>
            <a:r>
              <a:rPr lang="en-US" dirty="0">
                <a:latin typeface="Times New Roman" panose="02020603050405020304" pitchFamily="18" charset="0"/>
                <a:cs typeface="Times New Roman" panose="02020603050405020304" pitchFamily="18" charset="0"/>
              </a:rPr>
              <a:t>, vol. 153, pp. 69–80, 2017.</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[5] P. K. Sharma and S. Singh, “Applications of IoT in smart agriculture,” </a:t>
            </a:r>
            <a:r>
              <a:rPr lang="en-US" i="1" dirty="0">
                <a:latin typeface="Times New Roman" panose="02020603050405020304" pitchFamily="18" charset="0"/>
                <a:cs typeface="Times New Roman" panose="02020603050405020304" pitchFamily="18" charset="0"/>
              </a:rPr>
              <a:t>International Journal of Advanced Research in Computer Engineering &amp; Technology</a:t>
            </a:r>
            <a:r>
              <a:rPr lang="en-US" dirty="0">
                <a:latin typeface="Times New Roman" panose="02020603050405020304" pitchFamily="18" charset="0"/>
                <a:cs typeface="Times New Roman" panose="02020603050405020304" pitchFamily="18" charset="0"/>
              </a:rPr>
              <a:t>, vol. 9, no. 6, pp. 82–86, 2020.</a:t>
            </a:r>
          </a:p>
          <a:p>
            <a:pPr>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marL="152400" indent="0">
              <a:spcBef>
                <a:spcPts val="0"/>
              </a:spcBef>
              <a:buNone/>
            </a:pPr>
            <a:endParaRPr lang="en-US" dirty="0">
              <a:latin typeface="Cambria" panose="02040503050406030204" pitchFamily="18" charset="0"/>
              <a:ea typeface="Cambria" panose="02040503050406030204" pitchFamily="18" charset="0"/>
            </a:endParaRPr>
          </a:p>
          <a:p>
            <a:pPr marL="152400" indent="0">
              <a:spcBef>
                <a:spcPts val="0"/>
              </a:spcBef>
              <a:buNone/>
            </a:pPr>
            <a:endParaRPr lang="en-US" dirty="0">
              <a:latin typeface="Cambria" panose="02040503050406030204" pitchFamily="18" charset="0"/>
              <a:ea typeface="Cambria" panose="02040503050406030204" pitchFamily="18" charset="0"/>
            </a:endParaRPr>
          </a:p>
          <a:p>
            <a:pPr marL="152400" indent="0">
              <a:spcBef>
                <a:spcPts val="0"/>
              </a:spcBef>
              <a:buNone/>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408</TotalTime>
  <Words>981</Words>
  <Application>Microsoft Office PowerPoint</Application>
  <PresentationFormat>Widescreen</PresentationFormat>
  <Paragraphs>148</Paragraphs>
  <Slides>16</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Cambria</vt:lpstr>
      <vt:lpstr>Times New Roman</vt:lpstr>
      <vt:lpstr>Verdana</vt:lpstr>
      <vt:lpstr>Wingdings</vt:lpstr>
      <vt:lpstr>Bioinformatics</vt:lpstr>
      <vt:lpstr>PROJECT TITLE: Enhancing farmer productivity through innovative technology solutions</vt:lpstr>
      <vt:lpstr>Problem Statement Number: </vt:lpstr>
      <vt:lpstr>Content</vt:lpstr>
      <vt:lpstr>Content (continuation)..</vt:lpstr>
      <vt:lpstr>Content (continuation)..</vt:lpstr>
      <vt:lpstr>Content (continuation)..</vt:lpstr>
      <vt:lpstr>Content (continuation)..</vt:lpstr>
      <vt:lpstr>Github Link</vt:lpstr>
      <vt:lpstr>Analysis of Problem Statement</vt:lpstr>
      <vt:lpstr>Content (continuation)..</vt:lpstr>
      <vt:lpstr>Content (continuation)..</vt:lpstr>
      <vt:lpstr>Login/ register dashboard</vt:lpstr>
      <vt:lpstr>Register</vt:lpstr>
      <vt:lpstr>Login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charan j</cp:lastModifiedBy>
  <cp:revision>45</cp:revision>
  <dcterms:modified xsi:type="dcterms:W3CDTF">2026-04-21T16:49:16Z</dcterms:modified>
</cp:coreProperties>
</file>